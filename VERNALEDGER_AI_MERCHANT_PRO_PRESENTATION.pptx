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0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A1834"/>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01 • SYSTEM DEFENSE //</a:t>
            </a:r>
          </a:p>
        </p:txBody>
      </p:sp>
      <p:sp>
        <p:nvSpPr>
          <p:cNvPr id="6" name="Corner 5"/>
          <p:cNvSpPr/>
          <p:nvPr/>
        </p:nvSpPr>
        <p:spPr>
          <a:xfrm>
            <a:off x="365760" y="365760"/>
            <a:ext cx="731520" cy="731520"/>
          </a:xfrm>
          <a:prstGeom prst="corner">
            <a:avLst/>
          </a:prstGeom>
          <a:noFill/>
          <a:ln w="381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rner 6"/>
          <p:cNvSpPr/>
          <p:nvPr/>
        </p:nvSpPr>
        <p:spPr>
          <a:xfrm>
            <a:off x="11094415" y="365760"/>
            <a:ext cx="731520" cy="731520"/>
          </a:xfrm>
          <a:prstGeom prst="corner">
            <a:avLst/>
          </a:prstGeom>
          <a:noFill/>
          <a:ln w="381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rner 7"/>
          <p:cNvSpPr/>
          <p:nvPr/>
        </p:nvSpPr>
        <p:spPr>
          <a:xfrm>
            <a:off x="365760" y="5760720"/>
            <a:ext cx="731520" cy="731520"/>
          </a:xfrm>
          <a:prstGeom prst="corner">
            <a:avLst/>
          </a:prstGeom>
          <a:noFill/>
          <a:ln w="381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rner 8"/>
          <p:cNvSpPr/>
          <p:nvPr/>
        </p:nvSpPr>
        <p:spPr>
          <a:xfrm>
            <a:off x="11094415" y="5760720"/>
            <a:ext cx="731520" cy="731520"/>
          </a:xfrm>
          <a:prstGeom prst="corner">
            <a:avLst/>
          </a:prstGeom>
          <a:noFill/>
          <a:ln w="381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nut 9"/>
          <p:cNvSpPr/>
          <p:nvPr/>
        </p:nvSpPr>
        <p:spPr>
          <a:xfrm>
            <a:off x="3809390" y="1143000"/>
            <a:ext cx="4572000" cy="4572000"/>
          </a:xfrm>
          <a:prstGeom prst="donut">
            <a:avLst/>
          </a:prstGeom>
          <a:noFill/>
          <a:ln w="254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66590" y="1600200"/>
            <a:ext cx="3657600" cy="3657600"/>
          </a:xfrm>
          <a:prstGeom prst="ellipse">
            <a:avLst/>
          </a:prstGeom>
          <a:no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2190" y="731520"/>
            <a:ext cx="5486400" cy="365760"/>
          </a:xfrm>
          <a:prstGeom prst="roundRect">
            <a:avLst/>
          </a:prstGeom>
          <a:solidFill>
            <a:srgbClr val="0A1937"/>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F87"/>
                </a:solidFill>
                <a:latin typeface="Consolas"/>
              </a:defRPr>
            </a:pPr>
            <a:r>
              <a:t>● B.TECH COMPUTER ENGINEERING • MAJOR PROJECT DEFENSE</a:t>
            </a:r>
          </a:p>
        </p:txBody>
      </p:sp>
      <p:sp>
        <p:nvSpPr>
          <p:cNvPr id="13" name="TextBox 12"/>
          <p:cNvSpPr txBox="1"/>
          <p:nvPr/>
        </p:nvSpPr>
        <p:spPr>
          <a:xfrm>
            <a:off x="914400" y="1280160"/>
            <a:ext cx="10362895" cy="1280160"/>
          </a:xfrm>
          <a:prstGeom prst="rect">
            <a:avLst/>
          </a:prstGeom>
          <a:noFill/>
        </p:spPr>
        <p:txBody>
          <a:bodyPr wrap="none">
            <a:spAutoFit/>
          </a:bodyPr>
          <a:lstStyle/>
          <a:p>
            <a:pPr algn="ctr">
              <a:defRPr sz="3600" b="1">
                <a:solidFill>
                  <a:srgbClr val="00F2FE"/>
                </a:solidFill>
                <a:latin typeface="Segoe UI"/>
              </a:defRPr>
            </a:pPr>
            <a:r>
              <a:t>VernaLedger.AI: Merchant Pro v7.5</a:t>
            </a:r>
          </a:p>
          <a:p>
            <a:pPr algn="ctr">
              <a:defRPr sz="1400">
                <a:solidFill>
                  <a:srgbClr val="F8FAFC"/>
                </a:solidFill>
                <a:latin typeface="Segoe UI"/>
              </a:defRPr>
            </a:pPr>
            <a:r>
              <a:t>Next-Gen Point of Sale &amp; Vernacular Financial Suite with Gemini Flash OCR,</a:t>
            </a:r>
            <a:br/>
            <a:r>
              <a:t>Marathi Voice Billing &amp; SQLite ACID Ledger</a:t>
            </a:r>
          </a:p>
        </p:txBody>
      </p:sp>
      <p:sp>
        <p:nvSpPr>
          <p:cNvPr id="14" name="Rounded Rectangle 13"/>
          <p:cNvSpPr/>
          <p:nvPr/>
        </p:nvSpPr>
        <p:spPr>
          <a:xfrm>
            <a:off x="1097280" y="2834640"/>
            <a:ext cx="9997135" cy="2011680"/>
          </a:xfrm>
          <a:prstGeom prst="roundRect">
            <a:avLst/>
          </a:prstGeom>
          <a:solidFill>
            <a:srgbClr val="0A1128"/>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000" b="1">
                <a:solidFill>
                  <a:srgbClr val="00FF87"/>
                </a:solidFill>
                <a:latin typeface="Consolas"/>
              </a:defRPr>
            </a:pPr>
            <a:r>
              <a:t>PROJECT DEVELOPMENT TEAM</a:t>
            </a:r>
          </a:p>
          <a:p>
            <a:pPr algn="ctr">
              <a:defRPr sz="1100" b="1">
                <a:solidFill>
                  <a:srgbClr val="F8FAFC"/>
                </a:solidFill>
                <a:latin typeface="Segoe UI"/>
              </a:defRPr>
            </a:pPr>
            <a:r>
              <a:t>1. Sanket Kirdat (Team Leader &amp; AI Dev | Roll: 4060)   •   2. Sakshi Bhagat (Frontend &amp; UI Dev | Roll: 4054)</a:t>
            </a:r>
          </a:p>
          <a:p>
            <a:pPr algn="ctr">
              <a:defRPr sz="1100" b="1">
                <a:solidFill>
                  <a:srgbClr val="F8FAFC"/>
                </a:solidFill>
                <a:latin typeface="Segoe UI"/>
              </a:defRPr>
            </a:pPr>
            <a:r>
              <a:t>3. Vaishnavi Dhavale (Voice Billing &amp; AI Dev | Roll: 4056)   •   4. Rushikesh Mulik (Backend &amp; Database | Roll: 4004)</a:t>
            </a:r>
          </a:p>
          <a:p>
            <a:pPr algn="ctr">
              <a:defRPr sz="1100">
                <a:solidFill>
                  <a:srgbClr val="94A3B8"/>
                </a:solidFill>
                <a:latin typeface="Segoe UI"/>
              </a:defRPr>
            </a:pPr>
            <a:r>
              <a:t>B.Tech Final Year • Department of Artificial Intelligence &amp; Data Science (AI &amp; DS)</a:t>
            </a:r>
          </a:p>
        </p:txBody>
      </p:sp>
      <p:sp>
        <p:nvSpPr>
          <p:cNvPr id="15" name="Rounded Rectangle 14"/>
          <p:cNvSpPr/>
          <p:nvPr/>
        </p:nvSpPr>
        <p:spPr>
          <a:xfrm>
            <a:off x="2011680" y="4846320"/>
            <a:ext cx="8168335" cy="1097280"/>
          </a:xfrm>
          <a:prstGeom prst="roundRect">
            <a:avLst/>
          </a:prstGeom>
          <a:solidFill>
            <a:srgbClr val="080E1E"/>
          </a:solidFill>
          <a:ln w="12700">
            <a:solidFill>
              <a:srgbClr val="283C64"/>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300" b="1">
                <a:solidFill>
                  <a:srgbClr val="F8FAFC"/>
                </a:solidFill>
                <a:latin typeface="Segoe UI"/>
              </a:defRPr>
            </a:pPr>
            <a:r>
              <a:t>Arvind Gavali College of Engineering, Satara (AGCE Satara)</a:t>
            </a:r>
          </a:p>
          <a:p>
            <a:pPr algn="ctr">
              <a:defRPr sz="950">
                <a:solidFill>
                  <a:srgbClr val="00F2FE"/>
                </a:solidFill>
                <a:latin typeface="Consolas"/>
              </a:defRPr>
            </a:pPr>
            <a:r>
              <a:t>Affiliated to Dr. Babasaheb Ambedkar Technological University (DBATU University) • Academic Year 2026 - 2027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8282C"/>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02 • PROJECT OVERVIEW //</a:t>
            </a:r>
          </a:p>
        </p:txBody>
      </p:sp>
      <p:sp>
        <p:nvSpPr>
          <p:cNvPr id="6" name="Rectangle 5"/>
          <p:cNvSpPr/>
          <p:nvPr/>
        </p:nvSpPr>
        <p:spPr>
          <a:xfrm>
            <a:off x="731520" y="1417320"/>
            <a:ext cx="10728655"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1298448"/>
            <a:ext cx="274320" cy="274320"/>
          </a:xfrm>
          <a:prstGeom prst="ellipse">
            <a:avLst/>
          </a:prstGeom>
          <a:solidFill>
            <a:srgbClr val="00F2FE"/>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154680" y="1298448"/>
            <a:ext cx="274320" cy="274320"/>
          </a:xfrm>
          <a:prstGeom prst="ellipse">
            <a:avLst/>
          </a:prstGeom>
          <a:solidFill>
            <a:srgbClr val="00F2FE"/>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897880" y="1298448"/>
            <a:ext cx="274320" cy="274320"/>
          </a:xfrm>
          <a:prstGeom prst="ellipse">
            <a:avLst/>
          </a:prstGeom>
          <a:solidFill>
            <a:srgbClr val="00F2FE"/>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41080" y="1298448"/>
            <a:ext cx="274320" cy="274320"/>
          </a:xfrm>
          <a:prstGeom prst="ellipse">
            <a:avLst/>
          </a:prstGeom>
          <a:solidFill>
            <a:srgbClr val="00F2FE"/>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35640" y="1298448"/>
            <a:ext cx="274320" cy="274320"/>
          </a:xfrm>
          <a:prstGeom prst="ellipse">
            <a:avLst/>
          </a:prstGeom>
          <a:solidFill>
            <a:srgbClr val="00F2FE"/>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65760"/>
            <a:ext cx="3291840" cy="320040"/>
          </a:xfrm>
          <a:prstGeom prst="roundRect">
            <a:avLst/>
          </a:prstGeom>
          <a:solidFill>
            <a:srgbClr val="08282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02 • PROJECT OVERVIEW</a:t>
            </a:r>
          </a:p>
        </p:txBody>
      </p:sp>
      <p:sp>
        <p:nvSpPr>
          <p:cNvPr id="13" name="TextBox 12"/>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Introduction: VernaLedger.AI Suite</a:t>
            </a:r>
          </a:p>
          <a:p>
            <a:pPr>
              <a:defRPr sz="1100">
                <a:solidFill>
                  <a:srgbClr val="00F2FE"/>
                </a:solidFill>
                <a:latin typeface="Segoe UI"/>
              </a:defRPr>
            </a:pPr>
            <a:r>
              <a:t>Next-Gen Vernacular Financial &amp; Point of Sale Intelligence for Grassroots Indian Retail</a:t>
            </a:r>
          </a:p>
        </p:txBody>
      </p:sp>
      <p:sp>
        <p:nvSpPr>
          <p:cNvPr id="14" name="Rectangle 13"/>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6" name="TextBox 15"/>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02 / 23</a:t>
            </a:r>
          </a:p>
        </p:txBody>
      </p:sp>
      <p:sp>
        <p:nvSpPr>
          <p:cNvPr id="17" name="Rounded Rectangle 16"/>
          <p:cNvSpPr/>
          <p:nvPr/>
        </p:nvSpPr>
        <p:spPr>
          <a:xfrm>
            <a:off x="731520" y="1645920"/>
            <a:ext cx="5120640" cy="2011680"/>
          </a:xfrm>
          <a:prstGeom prst="roundRect">
            <a:avLst/>
          </a:prstGeom>
          <a:solidFill>
            <a:srgbClr val="08282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164592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1828800"/>
            <a:ext cx="4663440" cy="1645920"/>
          </a:xfrm>
          <a:prstGeom prst="rect">
            <a:avLst/>
          </a:prstGeom>
          <a:noFill/>
        </p:spPr>
        <p:txBody>
          <a:bodyPr wrap="square">
            <a:spAutoFit/>
          </a:bodyPr>
          <a:lstStyle/>
          <a:p>
            <a:pPr>
              <a:defRPr sz="1300" b="1">
                <a:solidFill>
                  <a:srgbClr val="00F2FE"/>
                </a:solidFill>
                <a:latin typeface="Segoe UI"/>
              </a:defRPr>
            </a:pPr>
            <a:r>
              <a:t>🏪 What is VernaLedger.AI?</a:t>
            </a:r>
          </a:p>
          <a:p>
            <a:pPr>
              <a:defRPr sz="1050">
                <a:solidFill>
                  <a:srgbClr val="94A3B8"/>
                </a:solidFill>
                <a:latin typeface="Segoe UI"/>
              </a:defRPr>
            </a:pPr>
            <a:r>
              <a:t>An offline-first, vernacular-native Point of Sale (POS) and smart digital bookkeeping suite engineered specifically for India's 63+ million micro, small, and medium enterprises (MSMEs) and local kirana merchants.</a:t>
            </a:r>
          </a:p>
          <a:p>
            <a:pPr>
              <a:defRPr sz="850" b="1">
                <a:solidFill>
                  <a:srgbClr val="00F2FE"/>
                </a:solidFill>
                <a:latin typeface="Consolas"/>
              </a:defRPr>
            </a:pPr>
            <a:r>
              <a:t>[Empowering 63M+ Indian MSMEs]</a:t>
            </a:r>
          </a:p>
        </p:txBody>
      </p:sp>
      <p:sp>
        <p:nvSpPr>
          <p:cNvPr id="20" name="Rounded Rectangle 19"/>
          <p:cNvSpPr/>
          <p:nvPr/>
        </p:nvSpPr>
        <p:spPr>
          <a:xfrm>
            <a:off x="6217920" y="1645920"/>
            <a:ext cx="5120640" cy="2011680"/>
          </a:xfrm>
          <a:prstGeom prst="roundRect">
            <a:avLst/>
          </a:prstGeom>
          <a:solidFill>
            <a:srgbClr val="08282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645920"/>
            <a:ext cx="493776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1828800"/>
            <a:ext cx="4663440" cy="1645920"/>
          </a:xfrm>
          <a:prstGeom prst="rect">
            <a:avLst/>
          </a:prstGeom>
          <a:noFill/>
        </p:spPr>
        <p:txBody>
          <a:bodyPr wrap="square">
            <a:spAutoFit/>
          </a:bodyPr>
          <a:lstStyle/>
          <a:p>
            <a:pPr>
              <a:defRPr sz="1300" b="1">
                <a:solidFill>
                  <a:srgbClr val="00FF87"/>
                </a:solidFill>
                <a:latin typeface="Segoe UI"/>
              </a:defRPr>
            </a:pPr>
            <a:r>
              <a:t>🗣️ The Vernacular Revolution</a:t>
            </a:r>
          </a:p>
          <a:p>
            <a:pPr>
              <a:defRPr sz="1050">
                <a:solidFill>
                  <a:srgbClr val="94A3B8"/>
                </a:solidFill>
                <a:latin typeface="Segoe UI"/>
              </a:defRPr>
            </a:pPr>
            <a:r>
              <a:t>Eliminates English-centric digital barriers by empowering merchants to record transactions via natural Marathi and Hindi voice billing, backed by crystal-clear Edge TTS regional audio feedback.</a:t>
            </a:r>
          </a:p>
          <a:p>
            <a:pPr>
              <a:defRPr sz="850" b="1">
                <a:solidFill>
                  <a:srgbClr val="00FF87"/>
                </a:solidFill>
                <a:latin typeface="Consolas"/>
              </a:defRPr>
            </a:pPr>
            <a:r>
              <a:t>[Native Marathi &amp; Hindi Voice NLP]</a:t>
            </a:r>
          </a:p>
        </p:txBody>
      </p:sp>
      <p:sp>
        <p:nvSpPr>
          <p:cNvPr id="23" name="Rounded Rectangle 22"/>
          <p:cNvSpPr/>
          <p:nvPr/>
        </p:nvSpPr>
        <p:spPr>
          <a:xfrm>
            <a:off x="731520" y="3931920"/>
            <a:ext cx="5120640" cy="2011680"/>
          </a:xfrm>
          <a:prstGeom prst="roundRect">
            <a:avLst/>
          </a:prstGeom>
          <a:solidFill>
            <a:srgbClr val="08282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3931920"/>
            <a:ext cx="493776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114800"/>
            <a:ext cx="4663440" cy="1645920"/>
          </a:xfrm>
          <a:prstGeom prst="rect">
            <a:avLst/>
          </a:prstGeom>
          <a:noFill/>
        </p:spPr>
        <p:txBody>
          <a:bodyPr wrap="square">
            <a:spAutoFit/>
          </a:bodyPr>
          <a:lstStyle/>
          <a:p>
            <a:pPr>
              <a:defRPr sz="1300" b="1">
                <a:solidFill>
                  <a:srgbClr val="B026FF"/>
                </a:solidFill>
                <a:latin typeface="Segoe UI"/>
              </a:defRPr>
            </a:pPr>
            <a:r>
              <a:t>⚡ Multimodal AI Vision &amp; OCR</a:t>
            </a:r>
          </a:p>
          <a:p>
            <a:pPr>
              <a:defRPr sz="1050">
                <a:solidFill>
                  <a:srgbClr val="94A3B8"/>
                </a:solidFill>
                <a:latin typeface="Segoe UI"/>
              </a:defRPr>
            </a:pPr>
            <a:r>
              <a:t>Eliminates manual pen-and-paper billing by harnessing Google Gemini Flash multimodal vision to accurately extract items, rates, quantities, and taxes in under 4.5 seconds.</a:t>
            </a:r>
          </a:p>
          <a:p>
            <a:pPr>
              <a:defRPr sz="850" b="1">
                <a:solidFill>
                  <a:srgbClr val="B026FF"/>
                </a:solidFill>
                <a:latin typeface="Consolas"/>
              </a:defRPr>
            </a:pPr>
            <a:r>
              <a:t>[Sub-4.5s Instant Digitization]</a:t>
            </a:r>
          </a:p>
        </p:txBody>
      </p:sp>
      <p:sp>
        <p:nvSpPr>
          <p:cNvPr id="26" name="Rounded Rectangle 25"/>
          <p:cNvSpPr/>
          <p:nvPr/>
        </p:nvSpPr>
        <p:spPr>
          <a:xfrm>
            <a:off x="6217920" y="3931920"/>
            <a:ext cx="5120640" cy="2011680"/>
          </a:xfrm>
          <a:prstGeom prst="roundRect">
            <a:avLst/>
          </a:prstGeom>
          <a:solidFill>
            <a:srgbClr val="08282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3931920"/>
            <a:ext cx="4937760"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114800"/>
            <a:ext cx="4663440" cy="1645920"/>
          </a:xfrm>
          <a:prstGeom prst="rect">
            <a:avLst/>
          </a:prstGeom>
          <a:noFill/>
        </p:spPr>
        <p:txBody>
          <a:bodyPr wrap="square">
            <a:spAutoFit/>
          </a:bodyPr>
          <a:lstStyle/>
          <a:p>
            <a:pPr>
              <a:defRPr sz="1300" b="1">
                <a:solidFill>
                  <a:srgbClr val="4FACFE"/>
                </a:solidFill>
                <a:latin typeface="Segoe UI"/>
              </a:defRPr>
            </a:pPr>
            <a:r>
              <a:t>🛡️ Resilient ACID SQLite Architecture</a:t>
            </a:r>
          </a:p>
          <a:p>
            <a:pPr>
              <a:defRPr sz="1050">
                <a:solidFill>
                  <a:srgbClr val="94A3B8"/>
                </a:solidFill>
                <a:latin typeface="Segoe UI"/>
              </a:defRPr>
            </a:pPr>
            <a:r>
              <a:t>Guarantees 100% operational uptime and zero data loss with a local SQLite database (WAL mode), eliminating expensive cloud subscription fees, vendor lock-in, and broadband dependency.</a:t>
            </a:r>
          </a:p>
          <a:p>
            <a:pPr>
              <a:defRPr sz="850" b="1">
                <a:solidFill>
                  <a:srgbClr val="4FACFE"/>
                </a:solidFill>
                <a:latin typeface="Consolas"/>
              </a:defRPr>
            </a:pPr>
            <a:r>
              <a:t>[Crash-Proof ACID &amp; Zero Platform Tax]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0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3C0E1C"/>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0055"/>
                </a:solidFill>
                <a:latin typeface="Consolas"/>
              </a:defRPr>
            </a:pPr>
            <a:r>
              <a:t>// 03 • MARKET REALITIES //</a:t>
            </a:r>
          </a:p>
        </p:txBody>
      </p:sp>
      <p:sp>
        <p:nvSpPr>
          <p:cNvPr id="6" name="Diamond 5"/>
          <p:cNvSpPr/>
          <p:nvPr/>
        </p:nvSpPr>
        <p:spPr>
          <a:xfrm>
            <a:off x="228600" y="1645920"/>
            <a:ext cx="411480" cy="411480"/>
          </a:xfrm>
          <a:prstGeom prst="diamond">
            <a:avLst/>
          </a:prstGeom>
          <a:solidFill>
            <a:srgbClr val="780F23"/>
          </a:solidFill>
          <a:ln w="317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11551615" y="1645920"/>
            <a:ext cx="411480" cy="411480"/>
          </a:xfrm>
          <a:prstGeom prst="diamond">
            <a:avLst/>
          </a:prstGeom>
          <a:solidFill>
            <a:srgbClr val="780F23"/>
          </a:solidFill>
          <a:ln w="317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228600" y="3931920"/>
            <a:ext cx="411480" cy="411480"/>
          </a:xfrm>
          <a:prstGeom prst="diamond">
            <a:avLst/>
          </a:prstGeom>
          <a:solidFill>
            <a:srgbClr val="780F23"/>
          </a:solidFill>
          <a:ln w="317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11551615" y="3931920"/>
            <a:ext cx="411480" cy="411480"/>
          </a:xfrm>
          <a:prstGeom prst="diamond">
            <a:avLst/>
          </a:prstGeom>
          <a:solidFill>
            <a:srgbClr val="780F23"/>
          </a:solidFill>
          <a:ln w="317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17320"/>
            <a:ext cx="10728655" cy="45720"/>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65760"/>
            <a:ext cx="3291840" cy="320040"/>
          </a:xfrm>
          <a:prstGeom prst="roundRect">
            <a:avLst/>
          </a:prstGeom>
          <a:solidFill>
            <a:srgbClr val="3C0E1C"/>
          </a:solidFill>
          <a:ln w="1524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0055"/>
                </a:solidFill>
                <a:latin typeface="Consolas"/>
              </a:defRPr>
            </a:pPr>
            <a:r>
              <a:t>●  03 • MARKET REALITIES</a:t>
            </a:r>
          </a:p>
        </p:txBody>
      </p:sp>
      <p:sp>
        <p:nvSpPr>
          <p:cNvPr id="12" name="TextBox 11"/>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Problem Statement</a:t>
            </a:r>
          </a:p>
          <a:p>
            <a:pPr>
              <a:defRPr sz="1100">
                <a:solidFill>
                  <a:srgbClr val="FFAA00"/>
                </a:solidFill>
                <a:latin typeface="Segoe UI"/>
              </a:defRPr>
            </a:pPr>
            <a:r>
              <a:t>The Operational Burden on Local &amp; Rural Retail Merchants</a:t>
            </a:r>
          </a:p>
        </p:txBody>
      </p:sp>
      <p:sp>
        <p:nvSpPr>
          <p:cNvPr id="13" name="Rectangle 12"/>
          <p:cNvSpPr/>
          <p:nvPr/>
        </p:nvSpPr>
        <p:spPr>
          <a:xfrm>
            <a:off x="731520" y="6309360"/>
            <a:ext cx="10728655" cy="18288"/>
          </a:xfrm>
          <a:prstGeom prst="rect">
            <a:avLst/>
          </a:prstGeom>
          <a:solidFill>
            <a:srgbClr val="FF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5" name="TextBox 14"/>
          <p:cNvSpPr txBox="1"/>
          <p:nvPr/>
        </p:nvSpPr>
        <p:spPr>
          <a:xfrm>
            <a:off x="9601200" y="6355080"/>
            <a:ext cx="1828800" cy="365760"/>
          </a:xfrm>
          <a:prstGeom prst="rect">
            <a:avLst/>
          </a:prstGeom>
          <a:noFill/>
        </p:spPr>
        <p:txBody>
          <a:bodyPr wrap="none">
            <a:spAutoFit/>
          </a:bodyPr>
          <a:lstStyle/>
          <a:p>
            <a:pPr algn="r">
              <a:defRPr sz="900" b="1">
                <a:solidFill>
                  <a:srgbClr val="FF0055"/>
                </a:solidFill>
                <a:latin typeface="Consolas"/>
              </a:defRPr>
            </a:pPr>
            <a:r>
              <a:t>03 / 23</a:t>
            </a:r>
          </a:p>
        </p:txBody>
      </p:sp>
      <p:sp>
        <p:nvSpPr>
          <p:cNvPr id="16" name="Rounded Rectangle 15"/>
          <p:cNvSpPr/>
          <p:nvPr/>
        </p:nvSpPr>
        <p:spPr>
          <a:xfrm>
            <a:off x="731520" y="1645920"/>
            <a:ext cx="5120640" cy="2011680"/>
          </a:xfrm>
          <a:prstGeom prst="roundRect">
            <a:avLst/>
          </a:prstGeom>
          <a:solidFill>
            <a:srgbClr val="3C0E1C"/>
          </a:solidFill>
          <a:ln w="15240">
            <a:solidFill>
              <a:srgbClr val="F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64592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1828800"/>
            <a:ext cx="4663440" cy="1645920"/>
          </a:xfrm>
          <a:prstGeom prst="rect">
            <a:avLst/>
          </a:prstGeom>
          <a:noFill/>
        </p:spPr>
        <p:txBody>
          <a:bodyPr wrap="square">
            <a:spAutoFit/>
          </a:bodyPr>
          <a:lstStyle/>
          <a:p>
            <a:pPr>
              <a:defRPr sz="1300" b="1">
                <a:solidFill>
                  <a:srgbClr val="FF0055"/>
                </a:solidFill>
                <a:latin typeface="Segoe UI"/>
              </a:defRPr>
            </a:pPr>
            <a:r>
              <a:t>✍️ Manual Data Entry</a:t>
            </a:r>
          </a:p>
          <a:p>
            <a:pPr>
              <a:defRPr sz="1050">
                <a:solidFill>
                  <a:srgbClr val="94A3B8"/>
                </a:solidFill>
                <a:latin typeface="Segoe UI"/>
              </a:defRPr>
            </a:pPr>
            <a:r>
              <a:t>Writing receipts and ledgers manually consumes ~120s per bill, resulting in math miscalculations, queue backlogs, and lost paper slips.</a:t>
            </a:r>
          </a:p>
          <a:p>
            <a:pPr>
              <a:defRPr sz="850" b="1">
                <a:solidFill>
                  <a:srgbClr val="FF0055"/>
                </a:solidFill>
                <a:latin typeface="Consolas"/>
              </a:defRPr>
            </a:pPr>
            <a:r>
              <a:t>[Bottleneck: 120s / Bill]</a:t>
            </a:r>
          </a:p>
        </p:txBody>
      </p:sp>
      <p:sp>
        <p:nvSpPr>
          <p:cNvPr id="19" name="Rounded Rectangle 18"/>
          <p:cNvSpPr/>
          <p:nvPr/>
        </p:nvSpPr>
        <p:spPr>
          <a:xfrm>
            <a:off x="6217920" y="1645920"/>
            <a:ext cx="5120640" cy="2011680"/>
          </a:xfrm>
          <a:prstGeom prst="roundRect">
            <a:avLst/>
          </a:prstGeom>
          <a:solidFill>
            <a:srgbClr val="3C0E1C"/>
          </a:solidFill>
          <a:ln w="15240">
            <a:solidFill>
              <a:srgbClr val="F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64592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828800"/>
            <a:ext cx="4663440" cy="1645920"/>
          </a:xfrm>
          <a:prstGeom prst="rect">
            <a:avLst/>
          </a:prstGeom>
          <a:noFill/>
        </p:spPr>
        <p:txBody>
          <a:bodyPr wrap="square">
            <a:spAutoFit/>
          </a:bodyPr>
          <a:lstStyle/>
          <a:p>
            <a:pPr>
              <a:defRPr sz="1300" b="1">
                <a:solidFill>
                  <a:srgbClr val="FF0055"/>
                </a:solidFill>
                <a:latin typeface="Segoe UI"/>
              </a:defRPr>
            </a:pPr>
            <a:r>
              <a:t>🌍 Language Barriers</a:t>
            </a:r>
          </a:p>
          <a:p>
            <a:pPr>
              <a:defRPr sz="1050">
                <a:solidFill>
                  <a:srgbClr val="94A3B8"/>
                </a:solidFill>
                <a:latin typeface="Segoe UI"/>
              </a:defRPr>
            </a:pPr>
            <a:r>
              <a:t>90% of accounting software (Tally, Zoho) is English-centric, alienating semi-literate rural store owners who communicate exclusively in Marathi or Hindi.</a:t>
            </a:r>
          </a:p>
          <a:p>
            <a:pPr>
              <a:defRPr sz="850" b="1">
                <a:solidFill>
                  <a:srgbClr val="FF0055"/>
                </a:solidFill>
                <a:latin typeface="Consolas"/>
              </a:defRPr>
            </a:pPr>
            <a:r>
              <a:t>[Exclusion: Non-Vernacular UI]</a:t>
            </a:r>
          </a:p>
        </p:txBody>
      </p:sp>
      <p:sp>
        <p:nvSpPr>
          <p:cNvPr id="22" name="Rounded Rectangle 21"/>
          <p:cNvSpPr/>
          <p:nvPr/>
        </p:nvSpPr>
        <p:spPr>
          <a:xfrm>
            <a:off x="731520" y="3931920"/>
            <a:ext cx="5120640" cy="2011680"/>
          </a:xfrm>
          <a:prstGeom prst="roundRect">
            <a:avLst/>
          </a:prstGeom>
          <a:solidFill>
            <a:srgbClr val="3C0E1C"/>
          </a:solidFill>
          <a:ln w="15240">
            <a:solidFill>
              <a:srgbClr val="F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393192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114800"/>
            <a:ext cx="4663440" cy="1645920"/>
          </a:xfrm>
          <a:prstGeom prst="rect">
            <a:avLst/>
          </a:prstGeom>
          <a:noFill/>
        </p:spPr>
        <p:txBody>
          <a:bodyPr wrap="square">
            <a:spAutoFit/>
          </a:bodyPr>
          <a:lstStyle/>
          <a:p>
            <a:pPr>
              <a:defRPr sz="1300" b="1">
                <a:solidFill>
                  <a:srgbClr val="FF0055"/>
                </a:solidFill>
                <a:latin typeface="Segoe UI"/>
              </a:defRPr>
            </a:pPr>
            <a:r>
              <a:t>📘 Disorganized Udhari</a:t>
            </a:r>
          </a:p>
          <a:p>
            <a:pPr>
              <a:defRPr sz="1050">
                <a:solidFill>
                  <a:srgbClr val="94A3B8"/>
                </a:solidFill>
                <a:latin typeface="Segoe UI"/>
              </a:defRPr>
            </a:pPr>
            <a:r>
              <a:t>Tracking informal customer credit on paper books leads to untraceable balances, forgotten dues, and ~15% quarterly revenue leakage.</a:t>
            </a:r>
          </a:p>
          <a:p>
            <a:pPr>
              <a:defRPr sz="850" b="1">
                <a:solidFill>
                  <a:srgbClr val="FF0055"/>
                </a:solidFill>
                <a:latin typeface="Consolas"/>
              </a:defRPr>
            </a:pPr>
            <a:r>
              <a:t>[Loss: ~15% Uncollected Dues]</a:t>
            </a:r>
          </a:p>
        </p:txBody>
      </p:sp>
      <p:sp>
        <p:nvSpPr>
          <p:cNvPr id="25" name="Rounded Rectangle 24"/>
          <p:cNvSpPr/>
          <p:nvPr/>
        </p:nvSpPr>
        <p:spPr>
          <a:xfrm>
            <a:off x="6217920" y="3931920"/>
            <a:ext cx="5120640" cy="2011680"/>
          </a:xfrm>
          <a:prstGeom prst="roundRect">
            <a:avLst/>
          </a:prstGeom>
          <a:solidFill>
            <a:srgbClr val="3C0E1C"/>
          </a:solidFill>
          <a:ln w="15240">
            <a:solidFill>
              <a:srgbClr val="FF2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393192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4114800"/>
            <a:ext cx="4663440" cy="1645920"/>
          </a:xfrm>
          <a:prstGeom prst="rect">
            <a:avLst/>
          </a:prstGeom>
          <a:noFill/>
        </p:spPr>
        <p:txBody>
          <a:bodyPr wrap="square">
            <a:spAutoFit/>
          </a:bodyPr>
          <a:lstStyle/>
          <a:p>
            <a:pPr>
              <a:defRPr sz="1300" b="1">
                <a:solidFill>
                  <a:srgbClr val="FF0055"/>
                </a:solidFill>
                <a:latin typeface="Segoe UI"/>
              </a:defRPr>
            </a:pPr>
            <a:r>
              <a:t>📉 Lack of Analytics</a:t>
            </a:r>
          </a:p>
          <a:p>
            <a:pPr>
              <a:defRPr sz="1050">
                <a:solidFill>
                  <a:srgbClr val="94A3B8"/>
                </a:solidFill>
                <a:latin typeface="Segoe UI"/>
              </a:defRPr>
            </a:pPr>
            <a:r>
              <a:t>Kirana store owners have zero visibility into real-time profit/loss, fast-depleting stock thresholds, or sales trends to make restocking decisions.</a:t>
            </a:r>
          </a:p>
          <a:p>
            <a:pPr>
              <a:defRPr sz="850" b="1">
                <a:solidFill>
                  <a:srgbClr val="FF0055"/>
                </a:solidFill>
                <a:latin typeface="Consolas"/>
              </a:defRPr>
            </a:pPr>
            <a:r>
              <a:t>[Blindspot: Zero Sales Insights]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8301C"/>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04 • RURAL EMPOWERMENT //</a:t>
            </a:r>
          </a:p>
        </p:txBody>
      </p:sp>
      <p:sp>
        <p:nvSpPr>
          <p:cNvPr id="6" name="Rectangle 5"/>
          <p:cNvSpPr/>
          <p:nvPr/>
        </p:nvSpPr>
        <p:spPr>
          <a:xfrm>
            <a:off x="365760" y="1371600"/>
            <a:ext cx="45720" cy="4572000"/>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Up Arrow 6"/>
          <p:cNvSpPr/>
          <p:nvPr/>
        </p:nvSpPr>
        <p:spPr>
          <a:xfrm>
            <a:off x="274320" y="1188720"/>
            <a:ext cx="228600" cy="228600"/>
          </a:xfrm>
          <a:prstGeom prst="upArrow">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06240" y="1371600"/>
            <a:ext cx="45720" cy="457200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p Arrow 8"/>
          <p:cNvSpPr/>
          <p:nvPr/>
        </p:nvSpPr>
        <p:spPr>
          <a:xfrm>
            <a:off x="4114800" y="1188720"/>
            <a:ext cx="228600" cy="228600"/>
          </a:xfrm>
          <a:prstGeom prst="upArrow">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0" y="1371600"/>
            <a:ext cx="45720" cy="4572000"/>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p Arrow 10"/>
          <p:cNvSpPr/>
          <p:nvPr/>
        </p:nvSpPr>
        <p:spPr>
          <a:xfrm>
            <a:off x="7955280" y="1188720"/>
            <a:ext cx="228600" cy="228600"/>
          </a:xfrm>
          <a:prstGeom prst="upArrow">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704320" y="1371600"/>
            <a:ext cx="45720" cy="457200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11612880" y="1188720"/>
            <a:ext cx="228600" cy="228600"/>
          </a:xfrm>
          <a:prstGeom prst="upArrow">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65760"/>
            <a:ext cx="3291840" cy="320040"/>
          </a:xfrm>
          <a:prstGeom prst="roundRect">
            <a:avLst/>
          </a:prstGeom>
          <a:solidFill>
            <a:srgbClr val="0830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04 • THE VISION</a:t>
            </a:r>
          </a:p>
        </p:txBody>
      </p:sp>
      <p:sp>
        <p:nvSpPr>
          <p:cNvPr id="15" name="TextBox 14"/>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Motivation</a:t>
            </a:r>
          </a:p>
          <a:p>
            <a:pPr>
              <a:defRPr sz="1100">
                <a:solidFill>
                  <a:srgbClr val="00F2FE"/>
                </a:solidFill>
                <a:latin typeface="Segoe UI"/>
              </a:defRPr>
            </a:pPr>
            <a:r>
              <a:t>Empowering Rural Grassroots Commerce with Enterprise-Grade Artificial Intelligence</a:t>
            </a:r>
          </a:p>
        </p:txBody>
      </p:sp>
      <p:sp>
        <p:nvSpPr>
          <p:cNvPr id="16" name="Rectangle 15"/>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8" name="TextBox 17"/>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04 / 23</a:t>
            </a:r>
          </a:p>
        </p:txBody>
      </p:sp>
      <p:sp>
        <p:nvSpPr>
          <p:cNvPr id="19" name="Rounded Rectangle 18"/>
          <p:cNvSpPr/>
          <p:nvPr/>
        </p:nvSpPr>
        <p:spPr>
          <a:xfrm>
            <a:off x="731520" y="1737360"/>
            <a:ext cx="3328416" cy="4114800"/>
          </a:xfrm>
          <a:prstGeom prst="roundRect">
            <a:avLst/>
          </a:prstGeom>
          <a:solidFill>
            <a:srgbClr val="0830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1737360"/>
            <a:ext cx="3145536"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011680"/>
            <a:ext cx="2871216" cy="3566160"/>
          </a:xfrm>
          <a:prstGeom prst="rect">
            <a:avLst/>
          </a:prstGeom>
          <a:noFill/>
        </p:spPr>
        <p:txBody>
          <a:bodyPr wrap="square">
            <a:spAutoFit/>
          </a:bodyPr>
          <a:lstStyle/>
          <a:p>
            <a:pPr>
              <a:defRPr sz="1400" b="1">
                <a:solidFill>
                  <a:srgbClr val="00F2FE"/>
                </a:solidFill>
                <a:latin typeface="Segoe UI"/>
              </a:defRPr>
            </a:pPr>
            <a:r>
              <a:t>🌉 Bridging the Tech Divide</a:t>
            </a:r>
          </a:p>
          <a:p>
            <a:pPr>
              <a:defRPr sz="1100">
                <a:solidFill>
                  <a:srgbClr val="94A3B8"/>
                </a:solidFill>
                <a:latin typeface="Segoe UI"/>
              </a:defRPr>
            </a:pPr>
            <a:r>
              <a:t>Democratizing sophisticated business tooling for tier-2/3 micro-merchants and kirana stores without requiring expensive POS hardware, barcode scanners, or IT literacy.</a:t>
            </a:r>
          </a:p>
          <a:p>
            <a:br/>
            <a:pPr>
              <a:defRPr sz="950" b="1">
                <a:solidFill>
                  <a:srgbClr val="00F2FE"/>
                </a:solidFill>
                <a:latin typeface="Consolas"/>
              </a:defRPr>
            </a:pPr>
            <a:r>
              <a:t>Target: Democratizing Enterprise Tech</a:t>
            </a:r>
          </a:p>
        </p:txBody>
      </p:sp>
      <p:sp>
        <p:nvSpPr>
          <p:cNvPr id="22" name="Rounded Rectangle 21"/>
          <p:cNvSpPr/>
          <p:nvPr/>
        </p:nvSpPr>
        <p:spPr>
          <a:xfrm>
            <a:off x="4389120" y="1737360"/>
            <a:ext cx="3328416" cy="4114800"/>
          </a:xfrm>
          <a:prstGeom prst="roundRect">
            <a:avLst/>
          </a:prstGeom>
          <a:solidFill>
            <a:srgbClr val="0830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1737360"/>
            <a:ext cx="3145536"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2011680"/>
            <a:ext cx="2871216" cy="3566160"/>
          </a:xfrm>
          <a:prstGeom prst="rect">
            <a:avLst/>
          </a:prstGeom>
          <a:noFill/>
        </p:spPr>
        <p:txBody>
          <a:bodyPr wrap="square">
            <a:spAutoFit/>
          </a:bodyPr>
          <a:lstStyle/>
          <a:p>
            <a:pPr>
              <a:defRPr sz="1400" b="1">
                <a:solidFill>
                  <a:srgbClr val="00FF87"/>
                </a:solidFill>
                <a:latin typeface="Segoe UI"/>
              </a:defRPr>
            </a:pPr>
            <a:r>
              <a:t>🧠 Harnessing Multimodal AI</a:t>
            </a:r>
          </a:p>
          <a:p>
            <a:pPr>
              <a:defRPr sz="1100">
                <a:solidFill>
                  <a:srgbClr val="94A3B8"/>
                </a:solidFill>
                <a:latin typeface="Segoe UI"/>
              </a:defRPr>
            </a:pPr>
            <a:r>
              <a:t>Fusing Google Gemini Flash's sub-second multimodal vision with Microsoft Edge TTS to transform ubiquitous smartphone cameras and regional speech into a complete autonomous POS.</a:t>
            </a:r>
          </a:p>
          <a:p>
            <a:br/>
            <a:pPr>
              <a:defRPr sz="950" b="1">
                <a:solidFill>
                  <a:srgbClr val="00FF87"/>
                </a:solidFill>
                <a:latin typeface="Consolas"/>
              </a:defRPr>
            </a:pPr>
            <a:r>
              <a:t>Target: Multimodal AI + Neural Audio</a:t>
            </a:r>
          </a:p>
        </p:txBody>
      </p:sp>
      <p:sp>
        <p:nvSpPr>
          <p:cNvPr id="25" name="Rounded Rectangle 24"/>
          <p:cNvSpPr/>
          <p:nvPr/>
        </p:nvSpPr>
        <p:spPr>
          <a:xfrm>
            <a:off x="8046720" y="1737360"/>
            <a:ext cx="3328416" cy="4114800"/>
          </a:xfrm>
          <a:prstGeom prst="roundRect">
            <a:avLst/>
          </a:prstGeom>
          <a:solidFill>
            <a:srgbClr val="0830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1737360"/>
            <a:ext cx="3145536"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2011680"/>
            <a:ext cx="2871216" cy="3566160"/>
          </a:xfrm>
          <a:prstGeom prst="rect">
            <a:avLst/>
          </a:prstGeom>
          <a:noFill/>
        </p:spPr>
        <p:txBody>
          <a:bodyPr wrap="square">
            <a:spAutoFit/>
          </a:bodyPr>
          <a:lstStyle/>
          <a:p>
            <a:pPr>
              <a:defRPr sz="1400" b="1">
                <a:solidFill>
                  <a:srgbClr val="B026FF"/>
                </a:solidFill>
                <a:latin typeface="Segoe UI"/>
              </a:defRPr>
            </a:pPr>
            <a:r>
              <a:t>⚡ Removing Digital Friction</a:t>
            </a:r>
          </a:p>
          <a:p>
            <a:pPr>
              <a:defRPr sz="1100">
                <a:solidFill>
                  <a:srgbClr val="94A3B8"/>
                </a:solidFill>
                <a:latin typeface="Segoe UI"/>
              </a:defRPr>
            </a:pPr>
            <a:r>
              <a:t>Compressing cumbersome bookkeeping from several stressful minutes into an effortless 4.5-second gesture: snap a photo or speak in Marathi, and let AI structure the ledger.</a:t>
            </a:r>
          </a:p>
          <a:p>
            <a:br/>
            <a:pPr>
              <a:defRPr sz="950" b="1">
                <a:solidFill>
                  <a:srgbClr val="B026FF"/>
                </a:solidFill>
                <a:latin typeface="Consolas"/>
              </a:defRPr>
            </a:pPr>
            <a:r>
              <a:t>Target: Zero-Friction Billing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121C4C"/>
          </a:solidFill>
          <a:ln w="1270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4FACFE"/>
                </a:solidFill>
                <a:latin typeface="Consolas"/>
              </a:defRPr>
            </a:pPr>
            <a:r>
              <a:t>// 05 • GAP ANALYSIS //</a:t>
            </a:r>
          </a:p>
        </p:txBody>
      </p:sp>
      <p:sp>
        <p:nvSpPr>
          <p:cNvPr id="6" name="Cross 5"/>
          <p:cNvSpPr/>
          <p:nvPr/>
        </p:nvSpPr>
        <p:spPr>
          <a:xfrm>
            <a:off x="365760" y="1463040"/>
            <a:ext cx="320040" cy="320040"/>
          </a:xfrm>
          <a:prstGeom prst="plus">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ross 6"/>
          <p:cNvSpPr/>
          <p:nvPr/>
        </p:nvSpPr>
        <p:spPr>
          <a:xfrm>
            <a:off x="11704320" y="1463040"/>
            <a:ext cx="320040" cy="320040"/>
          </a:xfrm>
          <a:prstGeom prst="plus">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ross 7"/>
          <p:cNvSpPr/>
          <p:nvPr/>
        </p:nvSpPr>
        <p:spPr>
          <a:xfrm>
            <a:off x="365760" y="6035040"/>
            <a:ext cx="320040" cy="320040"/>
          </a:xfrm>
          <a:prstGeom prst="plus">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ross 8"/>
          <p:cNvSpPr/>
          <p:nvPr/>
        </p:nvSpPr>
        <p:spPr>
          <a:xfrm>
            <a:off x="11704320" y="6035040"/>
            <a:ext cx="320040" cy="320040"/>
          </a:xfrm>
          <a:prstGeom prst="plus">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121C4C"/>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4FACFE"/>
                </a:solidFill>
                <a:latin typeface="Consolas"/>
              </a:defRPr>
            </a:pPr>
            <a:r>
              <a:t>●  05 • COMPETITIVE BENCHMARKS</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Gap Analysis (Market Comparison)</a:t>
            </a:r>
          </a:p>
          <a:p>
            <a:pPr>
              <a:defRPr sz="1100">
                <a:solidFill>
                  <a:srgbClr val="00F2FE"/>
                </a:solidFill>
                <a:latin typeface="Segoe UI"/>
              </a:defRPr>
            </a:pPr>
            <a:r>
              <a:t>Head-to-Head Architectural Comparison with Direct Industry Competitors</a:t>
            </a:r>
          </a:p>
        </p:txBody>
      </p:sp>
      <p:sp>
        <p:nvSpPr>
          <p:cNvPr id="12" name="Rectangle 11"/>
          <p:cNvSpPr/>
          <p:nvPr/>
        </p:nvSpPr>
        <p:spPr>
          <a:xfrm>
            <a:off x="731520" y="6309360"/>
            <a:ext cx="10728655" cy="18288"/>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4FACFE"/>
                </a:solidFill>
                <a:latin typeface="Consolas"/>
              </a:defRPr>
            </a:pPr>
            <a:r>
              <a:t>05 / 23</a:t>
            </a:r>
          </a:p>
        </p:txBody>
      </p:sp>
      <p:graphicFrame>
        <p:nvGraphicFramePr>
          <p:cNvPr id="15" name="Table 14"/>
          <p:cNvGraphicFramePr>
            <a:graphicFrameLocks noGrp="1"/>
          </p:cNvGraphicFramePr>
          <p:nvPr/>
        </p:nvGraphicFramePr>
        <p:xfrm>
          <a:off x="731520" y="1691640"/>
          <a:ext cx="10728655" cy="4297680"/>
        </p:xfrm>
        <a:graphic>
          <a:graphicData uri="http://schemas.openxmlformats.org/drawingml/2006/table">
            <a:tbl>
              <a:tblPr firstRow="1" bandRow="1">
                <a:tableStyleId>{5C22544A-7EE6-4342-B048-85BDC9FD1C3A}</a:tableStyleId>
              </a:tblPr>
              <a:tblGrid>
                <a:gridCol w="2926080"/>
                <a:gridCol w="1554480"/>
                <a:gridCol w="1554480"/>
                <a:gridCol w="1554480"/>
                <a:gridCol w="1554480"/>
                <a:gridCol w="1584655"/>
              </a:tblGrid>
              <a:tr h="537210">
                <a:tc>
                  <a:txBody>
                    <a:bodyPr/>
                    <a:lstStyle/>
                    <a:p>
                      <a:pPr algn="l">
                        <a:defRPr sz="1000" b="1">
                          <a:solidFill>
                            <a:srgbClr val="00F2FE"/>
                          </a:solidFill>
                          <a:latin typeface="Segoe UI"/>
                        </a:defRPr>
                      </a:pPr>
                      <a:r>
                        <a:t>Evaluated Capability</a:t>
                      </a:r>
                    </a:p>
                  </a:txBody>
                  <a:tcPr anchor="ctr">
                    <a:solidFill>
                      <a:srgbClr val="0F1E3C"/>
                    </a:solidFill>
                  </a:tcPr>
                </a:tc>
                <a:tc>
                  <a:txBody>
                    <a:bodyPr/>
                    <a:lstStyle/>
                    <a:p>
                      <a:pPr algn="ctr">
                        <a:defRPr sz="1000" b="1">
                          <a:solidFill>
                            <a:srgbClr val="00F2FE"/>
                          </a:solidFill>
                          <a:latin typeface="Segoe UI"/>
                        </a:defRPr>
                      </a:pPr>
                      <a:r>
                        <a:t>Khatabook</a:t>
                      </a:r>
                    </a:p>
                  </a:txBody>
                  <a:tcPr anchor="ctr">
                    <a:solidFill>
                      <a:srgbClr val="0F1E3C"/>
                    </a:solidFill>
                  </a:tcPr>
                </a:tc>
                <a:tc>
                  <a:txBody>
                    <a:bodyPr/>
                    <a:lstStyle/>
                    <a:p>
                      <a:pPr algn="ctr">
                        <a:defRPr sz="1000" b="1">
                          <a:solidFill>
                            <a:srgbClr val="00F2FE"/>
                          </a:solidFill>
                          <a:latin typeface="Segoe UI"/>
                        </a:defRPr>
                      </a:pPr>
                      <a:r>
                        <a:t>OkCredit</a:t>
                      </a:r>
                    </a:p>
                  </a:txBody>
                  <a:tcPr anchor="ctr">
                    <a:solidFill>
                      <a:srgbClr val="0F1E3C"/>
                    </a:solidFill>
                  </a:tcPr>
                </a:tc>
                <a:tc>
                  <a:txBody>
                    <a:bodyPr/>
                    <a:lstStyle/>
                    <a:p>
                      <a:pPr algn="ctr">
                        <a:defRPr sz="1000" b="1">
                          <a:solidFill>
                            <a:srgbClr val="00F2FE"/>
                          </a:solidFill>
                          <a:latin typeface="Segoe UI"/>
                        </a:defRPr>
                      </a:pPr>
                      <a:r>
                        <a:t>Vyapar App</a:t>
                      </a:r>
                    </a:p>
                  </a:txBody>
                  <a:tcPr anchor="ctr">
                    <a:solidFill>
                      <a:srgbClr val="0F1E3C"/>
                    </a:solidFill>
                  </a:tcPr>
                </a:tc>
                <a:tc>
                  <a:txBody>
                    <a:bodyPr/>
                    <a:lstStyle/>
                    <a:p>
                      <a:pPr algn="ctr">
                        <a:defRPr sz="1000" b="1">
                          <a:solidFill>
                            <a:srgbClr val="00F2FE"/>
                          </a:solidFill>
                          <a:latin typeface="Segoe UI"/>
                        </a:defRPr>
                      </a:pPr>
                      <a:r>
                        <a:t>TallyPrime</a:t>
                      </a:r>
                    </a:p>
                  </a:txBody>
                  <a:tcPr anchor="ctr">
                    <a:solidFill>
                      <a:srgbClr val="0F1E3C"/>
                    </a:solidFill>
                  </a:tcPr>
                </a:tc>
                <a:tc>
                  <a:txBody>
                    <a:bodyPr/>
                    <a:lstStyle/>
                    <a:p>
                      <a:pPr algn="ctr">
                        <a:defRPr sz="1000" b="1">
                          <a:solidFill>
                            <a:srgbClr val="00FF87"/>
                          </a:solidFill>
                          <a:latin typeface="Segoe UI"/>
                        </a:defRPr>
                      </a:pPr>
                      <a:r>
                        <a:t>VernaLedger.AI (v7.5)</a:t>
                      </a:r>
                    </a:p>
                  </a:txBody>
                  <a:tcPr anchor="ctr">
                    <a:solidFill>
                      <a:srgbClr val="0F1E3C"/>
                    </a:solidFill>
                  </a:tcPr>
                </a:tc>
              </a:tr>
              <a:tr h="537210">
                <a:tc>
                  <a:txBody>
                    <a:bodyPr/>
                    <a:lstStyle/>
                    <a:p>
                      <a:pPr algn="l">
                        <a:defRPr sz="1000">
                          <a:solidFill>
                            <a:srgbClr val="94A3B8"/>
                          </a:solidFill>
                          <a:latin typeface="Segoe UI"/>
                        </a:defRPr>
                      </a:pPr>
                      <a:r>
                        <a:t>Marathi Voice Billing</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b="1">
                          <a:solidFill>
                            <a:srgbClr val="00FF87"/>
                          </a:solidFill>
                          <a:latin typeface="Segoe UI"/>
                        </a:defRPr>
                      </a:pPr>
                      <a:r>
                        <a:t>✔ Native Voice NLP + TTS</a:t>
                      </a:r>
                    </a:p>
                  </a:txBody>
                  <a:tcPr anchor="ctr">
                    <a:solidFill>
                      <a:srgbClr val="0C232D"/>
                    </a:solidFill>
                  </a:tcPr>
                </a:tc>
              </a:tr>
              <a:tr h="537210">
                <a:tc>
                  <a:txBody>
                    <a:bodyPr/>
                    <a:lstStyle/>
                    <a:p>
                      <a:pPr algn="l">
                        <a:defRPr sz="1000">
                          <a:solidFill>
                            <a:srgbClr val="94A3B8"/>
                          </a:solidFill>
                          <a:latin typeface="Segoe UI"/>
                        </a:defRPr>
                      </a:pPr>
                      <a:r>
                        <a:t>Multimodal AI OCR Parsing</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b="1">
                          <a:solidFill>
                            <a:srgbClr val="00FF87"/>
                          </a:solidFill>
                          <a:latin typeface="Segoe UI"/>
                        </a:defRPr>
                      </a:pPr>
                      <a:r>
                        <a:t>✔ Gemini Flash &lt;4.5s</a:t>
                      </a:r>
                    </a:p>
                  </a:txBody>
                  <a:tcPr anchor="ctr">
                    <a:solidFill>
                      <a:srgbClr val="0C232D"/>
                    </a:solidFill>
                  </a:tcPr>
                </a:tc>
              </a:tr>
              <a:tr h="537210">
                <a:tc>
                  <a:txBody>
                    <a:bodyPr/>
                    <a:lstStyle/>
                    <a:p>
                      <a:pPr algn="l">
                        <a:defRPr sz="1000">
                          <a:solidFill>
                            <a:srgbClr val="94A3B8"/>
                          </a:solidFill>
                          <a:latin typeface="Segoe UI"/>
                        </a:defRPr>
                      </a:pPr>
                      <a:r>
                        <a:t>Context-Aware RAG Chatbot</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a:solidFill>
                            <a:srgbClr val="FF0055"/>
                          </a:solidFill>
                          <a:latin typeface="Segoe UI"/>
                        </a:defRPr>
                      </a:pPr>
                      <a:r>
                        <a:t>❌ No</a:t>
                      </a:r>
                    </a:p>
                  </a:txBody>
                  <a:tcPr anchor="ctr">
                    <a:solidFill>
                      <a:srgbClr val="080E20"/>
                    </a:solidFill>
                  </a:tcPr>
                </a:tc>
                <a:tc>
                  <a:txBody>
                    <a:bodyPr/>
                    <a:lstStyle/>
                    <a:p>
                      <a:pPr algn="ctr">
                        <a:defRPr sz="1000" b="1">
                          <a:solidFill>
                            <a:srgbClr val="00FF87"/>
                          </a:solidFill>
                          <a:latin typeface="Segoe UI"/>
                        </a:defRPr>
                      </a:pPr>
                      <a:r>
                        <a:t>✔ Neural AI Studio (SQL RAG)</a:t>
                      </a:r>
                    </a:p>
                  </a:txBody>
                  <a:tcPr anchor="ctr">
                    <a:solidFill>
                      <a:srgbClr val="0C232D"/>
                    </a:solidFill>
                  </a:tcPr>
                </a:tc>
              </a:tr>
              <a:tr h="537210">
                <a:tc>
                  <a:txBody>
                    <a:bodyPr/>
                    <a:lstStyle/>
                    <a:p>
                      <a:pPr algn="l">
                        <a:defRPr sz="1000">
                          <a:solidFill>
                            <a:srgbClr val="94A3B8"/>
                          </a:solidFill>
                          <a:latin typeface="Segoe UI"/>
                        </a:defRPr>
                      </a:pPr>
                      <a:r>
                        <a:t>Offline ACID Database</a:t>
                      </a:r>
                    </a:p>
                  </a:txBody>
                  <a:tcPr anchor="ctr">
                    <a:solidFill>
                      <a:srgbClr val="080E20"/>
                    </a:solidFill>
                  </a:tcPr>
                </a:tc>
                <a:tc>
                  <a:txBody>
                    <a:bodyPr/>
                    <a:lstStyle/>
                    <a:p>
                      <a:pPr algn="ctr">
                        <a:defRPr sz="1000">
                          <a:solidFill>
                            <a:srgbClr val="FF0055"/>
                          </a:solidFill>
                          <a:latin typeface="Segoe UI"/>
                        </a:defRPr>
                      </a:pPr>
                      <a:r>
                        <a:t>❌ Cloud Lock-in</a:t>
                      </a:r>
                    </a:p>
                  </a:txBody>
                  <a:tcPr anchor="ctr">
                    <a:solidFill>
                      <a:srgbClr val="080E20"/>
                    </a:solidFill>
                  </a:tcPr>
                </a:tc>
                <a:tc>
                  <a:txBody>
                    <a:bodyPr/>
                    <a:lstStyle/>
                    <a:p>
                      <a:pPr algn="ctr">
                        <a:defRPr sz="1000">
                          <a:solidFill>
                            <a:srgbClr val="FF0055"/>
                          </a:solidFill>
                          <a:latin typeface="Segoe UI"/>
                        </a:defRPr>
                      </a:pPr>
                      <a:r>
                        <a:t>❌ Cloud Lock-in</a:t>
                      </a:r>
                    </a:p>
                  </a:txBody>
                  <a:tcPr anchor="ctr">
                    <a:solidFill>
                      <a:srgbClr val="080E20"/>
                    </a:solidFill>
                  </a:tcPr>
                </a:tc>
                <a:tc>
                  <a:txBody>
                    <a:bodyPr/>
                    <a:lstStyle/>
                    <a:p>
                      <a:pPr algn="ctr">
                        <a:defRPr sz="1000">
                          <a:solidFill>
                            <a:srgbClr val="94A3B8"/>
                          </a:solidFill>
                          <a:latin typeface="Segoe UI"/>
                        </a:defRPr>
                      </a:pPr>
                      <a:r>
                        <a:t>⚠️ Local File</a:t>
                      </a:r>
                    </a:p>
                  </a:txBody>
                  <a:tcPr anchor="ctr">
                    <a:solidFill>
                      <a:srgbClr val="080E20"/>
                    </a:solidFill>
                  </a:tcPr>
                </a:tc>
                <a:tc>
                  <a:txBody>
                    <a:bodyPr/>
                    <a:lstStyle/>
                    <a:p>
                      <a:pPr algn="ctr">
                        <a:defRPr sz="1000">
                          <a:solidFill>
                            <a:srgbClr val="00F2FE"/>
                          </a:solidFill>
                          <a:latin typeface="Segoe UI"/>
                        </a:defRPr>
                      </a:pPr>
                      <a:r>
                        <a:t>✔ Proprietary DB</a:t>
                      </a:r>
                    </a:p>
                  </a:txBody>
                  <a:tcPr anchor="ctr">
                    <a:solidFill>
                      <a:srgbClr val="080E20"/>
                    </a:solidFill>
                  </a:tcPr>
                </a:tc>
                <a:tc>
                  <a:txBody>
                    <a:bodyPr/>
                    <a:lstStyle/>
                    <a:p>
                      <a:pPr algn="ctr">
                        <a:defRPr sz="1000" b="1">
                          <a:solidFill>
                            <a:srgbClr val="00FF87"/>
                          </a:solidFill>
                          <a:latin typeface="Segoe UI"/>
                        </a:defRPr>
                      </a:pPr>
                      <a:r>
                        <a:t>✔ SQLite 3 (WAL Mode ACID)</a:t>
                      </a:r>
                    </a:p>
                  </a:txBody>
                  <a:tcPr anchor="ctr">
                    <a:solidFill>
                      <a:srgbClr val="0C232D"/>
                    </a:solidFill>
                  </a:tcPr>
                </a:tc>
              </a:tr>
              <a:tr h="537210">
                <a:tc>
                  <a:txBody>
                    <a:bodyPr/>
                    <a:lstStyle/>
                    <a:p>
                      <a:pPr algn="l">
                        <a:defRPr sz="1000">
                          <a:solidFill>
                            <a:srgbClr val="94A3B8"/>
                          </a:solidFill>
                          <a:latin typeface="Segoe UI"/>
                        </a:defRPr>
                      </a:pPr>
                      <a:r>
                        <a:t>1-Click WhatsApp Reminders</a:t>
                      </a:r>
                    </a:p>
                  </a:txBody>
                  <a:tcPr anchor="ctr">
                    <a:solidFill>
                      <a:srgbClr val="080E20"/>
                    </a:solidFill>
                  </a:tcPr>
                </a:tc>
                <a:tc>
                  <a:txBody>
                    <a:bodyPr/>
                    <a:lstStyle/>
                    <a:p>
                      <a:pPr algn="ctr">
                        <a:defRPr sz="1000">
                          <a:solidFill>
                            <a:srgbClr val="94A3B8"/>
                          </a:solidFill>
                          <a:latin typeface="Segoe UI"/>
                        </a:defRPr>
                      </a:pPr>
                      <a:r>
                        <a:t>⚠️ Paid SMS</a:t>
                      </a:r>
                    </a:p>
                  </a:txBody>
                  <a:tcPr anchor="ctr">
                    <a:solidFill>
                      <a:srgbClr val="080E20"/>
                    </a:solidFill>
                  </a:tcPr>
                </a:tc>
                <a:tc>
                  <a:txBody>
                    <a:bodyPr/>
                    <a:lstStyle/>
                    <a:p>
                      <a:pPr algn="ctr">
                        <a:defRPr sz="1000">
                          <a:solidFill>
                            <a:srgbClr val="94A3B8"/>
                          </a:solidFill>
                          <a:latin typeface="Segoe UI"/>
                        </a:defRPr>
                      </a:pPr>
                      <a:r>
                        <a:t>⚠️ Standard SMS</a:t>
                      </a:r>
                    </a:p>
                  </a:txBody>
                  <a:tcPr anchor="ctr">
                    <a:solidFill>
                      <a:srgbClr val="080E20"/>
                    </a:solidFill>
                  </a:tcPr>
                </a:tc>
                <a:tc>
                  <a:txBody>
                    <a:bodyPr/>
                    <a:lstStyle/>
                    <a:p>
                      <a:pPr algn="ctr">
                        <a:defRPr sz="1000">
                          <a:solidFill>
                            <a:srgbClr val="94A3B8"/>
                          </a:solidFill>
                          <a:latin typeface="Segoe UI"/>
                        </a:defRPr>
                      </a:pPr>
                      <a:r>
                        <a:t>⚠️ Paid Addon</a:t>
                      </a:r>
                    </a:p>
                  </a:txBody>
                  <a:tcPr anchor="ctr">
                    <a:solidFill>
                      <a:srgbClr val="080E20"/>
                    </a:solidFill>
                  </a:tcPr>
                </a:tc>
                <a:tc>
                  <a:txBody>
                    <a:bodyPr/>
                    <a:lstStyle/>
                    <a:p>
                      <a:pPr algn="ctr">
                        <a:defRPr sz="1000">
                          <a:solidFill>
                            <a:srgbClr val="FF0055"/>
                          </a:solidFill>
                          <a:latin typeface="Segoe UI"/>
                        </a:defRPr>
                      </a:pPr>
                      <a:r>
                        <a:t>❌ No Direct Hook</a:t>
                      </a:r>
                    </a:p>
                  </a:txBody>
                  <a:tcPr anchor="ctr">
                    <a:solidFill>
                      <a:srgbClr val="080E20"/>
                    </a:solidFill>
                  </a:tcPr>
                </a:tc>
                <a:tc>
                  <a:txBody>
                    <a:bodyPr/>
                    <a:lstStyle/>
                    <a:p>
                      <a:pPr algn="ctr">
                        <a:defRPr sz="1000" b="1">
                          <a:solidFill>
                            <a:srgbClr val="00FF87"/>
                          </a:solidFill>
                          <a:latin typeface="Segoe UI"/>
                        </a:defRPr>
                      </a:pPr>
                      <a:r>
                        <a:t>✔ 1-Click WhatsApp Direct</a:t>
                      </a:r>
                    </a:p>
                  </a:txBody>
                  <a:tcPr anchor="ctr">
                    <a:solidFill>
                      <a:srgbClr val="0C232D"/>
                    </a:solidFill>
                  </a:tcPr>
                </a:tc>
              </a:tr>
              <a:tr h="537210">
                <a:tc>
                  <a:txBody>
                    <a:bodyPr/>
                    <a:lstStyle/>
                    <a:p>
                      <a:pPr algn="l">
                        <a:defRPr sz="1000">
                          <a:solidFill>
                            <a:srgbClr val="94A3B8"/>
                          </a:solidFill>
                          <a:latin typeface="Segoe UI"/>
                        </a:defRPr>
                      </a:pPr>
                      <a:r>
                        <a:t>Security &amp; Audit Logs</a:t>
                      </a:r>
                    </a:p>
                  </a:txBody>
                  <a:tcPr anchor="ctr">
                    <a:solidFill>
                      <a:srgbClr val="080E20"/>
                    </a:solidFill>
                  </a:tcPr>
                </a:tc>
                <a:tc>
                  <a:txBody>
                    <a:bodyPr/>
                    <a:lstStyle/>
                    <a:p>
                      <a:pPr algn="ctr">
                        <a:defRPr sz="1000">
                          <a:solidFill>
                            <a:srgbClr val="FF0055"/>
                          </a:solidFill>
                          <a:latin typeface="Segoe UI"/>
                        </a:defRPr>
                      </a:pPr>
                      <a:r>
                        <a:t>❌ Mobile OTP</a:t>
                      </a:r>
                    </a:p>
                  </a:txBody>
                  <a:tcPr anchor="ctr">
                    <a:solidFill>
                      <a:srgbClr val="080E20"/>
                    </a:solidFill>
                  </a:tcPr>
                </a:tc>
                <a:tc>
                  <a:txBody>
                    <a:bodyPr/>
                    <a:lstStyle/>
                    <a:p>
                      <a:pPr algn="ctr">
                        <a:defRPr sz="1000">
                          <a:solidFill>
                            <a:srgbClr val="FF0055"/>
                          </a:solidFill>
                          <a:latin typeface="Segoe UI"/>
                        </a:defRPr>
                      </a:pPr>
                      <a:r>
                        <a:t>❌ Mobile OTP</a:t>
                      </a:r>
                    </a:p>
                  </a:txBody>
                  <a:tcPr anchor="ctr">
                    <a:solidFill>
                      <a:srgbClr val="080E20"/>
                    </a:solidFill>
                  </a:tcPr>
                </a:tc>
                <a:tc>
                  <a:txBody>
                    <a:bodyPr/>
                    <a:lstStyle/>
                    <a:p>
                      <a:pPr algn="ctr">
                        <a:defRPr sz="1000">
                          <a:solidFill>
                            <a:srgbClr val="94A3B8"/>
                          </a:solidFill>
                          <a:latin typeface="Segoe UI"/>
                        </a:defRPr>
                      </a:pPr>
                      <a:r>
                        <a:t>⚠️ Basic PIN</a:t>
                      </a:r>
                    </a:p>
                  </a:txBody>
                  <a:tcPr anchor="ctr">
                    <a:solidFill>
                      <a:srgbClr val="080E20"/>
                    </a:solidFill>
                  </a:tcPr>
                </a:tc>
                <a:tc>
                  <a:txBody>
                    <a:bodyPr/>
                    <a:lstStyle/>
                    <a:p>
                      <a:pPr algn="ctr">
                        <a:defRPr sz="1000">
                          <a:solidFill>
                            <a:srgbClr val="00F2FE"/>
                          </a:solidFill>
                          <a:latin typeface="Segoe UI"/>
                        </a:defRPr>
                      </a:pPr>
                      <a:r>
                        <a:t>✔ User Rights</a:t>
                      </a:r>
                    </a:p>
                  </a:txBody>
                  <a:tcPr anchor="ctr">
                    <a:solidFill>
                      <a:srgbClr val="080E20"/>
                    </a:solidFill>
                  </a:tcPr>
                </a:tc>
                <a:tc>
                  <a:txBody>
                    <a:bodyPr/>
                    <a:lstStyle/>
                    <a:p>
                      <a:pPr algn="ctr">
                        <a:defRPr sz="1000" b="1">
                          <a:solidFill>
                            <a:srgbClr val="00FF87"/>
                          </a:solidFill>
                          <a:latin typeface="Segoe UI"/>
                        </a:defRPr>
                      </a:pPr>
                      <a:r>
                        <a:t>✔ PBKDF2 &amp; Audit Logs</a:t>
                      </a:r>
                    </a:p>
                  </a:txBody>
                  <a:tcPr anchor="ctr">
                    <a:solidFill>
                      <a:srgbClr val="0C232D"/>
                    </a:solidFill>
                  </a:tcPr>
                </a:tc>
              </a:tr>
              <a:tr h="537210">
                <a:tc>
                  <a:txBody>
                    <a:bodyPr/>
                    <a:lstStyle/>
                    <a:p>
                      <a:pPr algn="l">
                        <a:defRPr sz="1000">
                          <a:solidFill>
                            <a:srgbClr val="94A3B8"/>
                          </a:solidFill>
                          <a:latin typeface="Segoe UI"/>
                        </a:defRPr>
                      </a:pPr>
                      <a:r>
                        <a:t>Cost to Small Merchant</a:t>
                      </a:r>
                    </a:p>
                  </a:txBody>
                  <a:tcPr anchor="ctr">
                    <a:solidFill>
                      <a:srgbClr val="080E20"/>
                    </a:solidFill>
                  </a:tcPr>
                </a:tc>
                <a:tc>
                  <a:txBody>
                    <a:bodyPr/>
                    <a:lstStyle/>
                    <a:p>
                      <a:pPr algn="ctr">
                        <a:defRPr sz="1000">
                          <a:solidFill>
                            <a:srgbClr val="94A3B8"/>
                          </a:solidFill>
                          <a:latin typeface="Segoe UI"/>
                        </a:defRPr>
                      </a:pPr>
                      <a:r>
                        <a:t>₹2,000 - ₹5,000 / yr</a:t>
                      </a:r>
                    </a:p>
                  </a:txBody>
                  <a:tcPr anchor="ctr">
                    <a:solidFill>
                      <a:srgbClr val="080E20"/>
                    </a:solidFill>
                  </a:tcPr>
                </a:tc>
                <a:tc>
                  <a:txBody>
                    <a:bodyPr/>
                    <a:lstStyle/>
                    <a:p>
                      <a:pPr algn="ctr">
                        <a:defRPr sz="1000">
                          <a:solidFill>
                            <a:srgbClr val="94A3B8"/>
                          </a:solidFill>
                          <a:latin typeface="Segoe UI"/>
                        </a:defRPr>
                      </a:pPr>
                      <a:r>
                        <a:t>₹1,500 - ₹3,000 / yr</a:t>
                      </a:r>
                    </a:p>
                  </a:txBody>
                  <a:tcPr anchor="ctr">
                    <a:solidFill>
                      <a:srgbClr val="080E20"/>
                    </a:solidFill>
                  </a:tcPr>
                </a:tc>
                <a:tc>
                  <a:txBody>
                    <a:bodyPr/>
                    <a:lstStyle/>
                    <a:p>
                      <a:pPr algn="ctr">
                        <a:defRPr sz="1000">
                          <a:solidFill>
                            <a:srgbClr val="94A3B8"/>
                          </a:solidFill>
                          <a:latin typeface="Segoe UI"/>
                        </a:defRPr>
                      </a:pPr>
                      <a:r>
                        <a:t>₹2,500 - ₹6,000 / yr</a:t>
                      </a:r>
                    </a:p>
                  </a:txBody>
                  <a:tcPr anchor="ctr">
                    <a:solidFill>
                      <a:srgbClr val="080E20"/>
                    </a:solidFill>
                  </a:tcPr>
                </a:tc>
                <a:tc>
                  <a:txBody>
                    <a:bodyPr/>
                    <a:lstStyle/>
                    <a:p>
                      <a:pPr algn="ctr">
                        <a:defRPr sz="1000">
                          <a:solidFill>
                            <a:srgbClr val="94A3B8"/>
                          </a:solidFill>
                          <a:latin typeface="Segoe UI"/>
                        </a:defRPr>
                      </a:pPr>
                      <a:r>
                        <a:t>₹22,500+ (Desktop)</a:t>
                      </a:r>
                    </a:p>
                  </a:txBody>
                  <a:tcPr anchor="ctr">
                    <a:solidFill>
                      <a:srgbClr val="080E20"/>
                    </a:solidFill>
                  </a:tcPr>
                </a:tc>
                <a:tc>
                  <a:txBody>
                    <a:bodyPr/>
                    <a:lstStyle/>
                    <a:p>
                      <a:pPr algn="ctr">
                        <a:defRPr sz="1000" b="1">
                          <a:solidFill>
                            <a:srgbClr val="00FF87"/>
                          </a:solidFill>
                          <a:latin typeface="Segoe UI"/>
                        </a:defRPr>
                      </a:pPr>
                      <a:r>
                        <a:t>100% Free &amp; Open Architecture</a:t>
                      </a:r>
                    </a:p>
                  </a:txBody>
                  <a:tcPr anchor="ctr">
                    <a:solidFill>
                      <a:srgbClr val="0C232D"/>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0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28104A"/>
          </a:solidFill>
          <a:ln w="1270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026FF"/>
                </a:solidFill>
                <a:latin typeface="Consolas"/>
              </a:defRPr>
            </a:pPr>
            <a:r>
              <a:t>// 06 • CORE MISSION //</a:t>
            </a:r>
          </a:p>
        </p:txBody>
      </p:sp>
      <p:sp>
        <p:nvSpPr>
          <p:cNvPr id="6" name="Corner 5"/>
          <p:cNvSpPr/>
          <p:nvPr/>
        </p:nvSpPr>
        <p:spPr>
          <a:xfrm>
            <a:off x="548640" y="1463040"/>
            <a:ext cx="457200" cy="457200"/>
          </a:xfrm>
          <a:prstGeom prst="corner">
            <a:avLst/>
          </a:prstGeom>
          <a:noFill/>
          <a:ln w="3175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rner 6"/>
          <p:cNvSpPr/>
          <p:nvPr/>
        </p:nvSpPr>
        <p:spPr>
          <a:xfrm>
            <a:off x="6035040" y="1463040"/>
            <a:ext cx="457200" cy="457200"/>
          </a:xfrm>
          <a:prstGeom prst="corner">
            <a:avLst/>
          </a:prstGeom>
          <a:noFill/>
          <a:ln w="3175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rner 7"/>
          <p:cNvSpPr/>
          <p:nvPr/>
        </p:nvSpPr>
        <p:spPr>
          <a:xfrm>
            <a:off x="548640" y="3749039"/>
            <a:ext cx="457200" cy="457200"/>
          </a:xfrm>
          <a:prstGeom prst="corner">
            <a:avLst/>
          </a:prstGeom>
          <a:noFill/>
          <a:ln w="3175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rner 8"/>
          <p:cNvSpPr/>
          <p:nvPr/>
        </p:nvSpPr>
        <p:spPr>
          <a:xfrm>
            <a:off x="6035040" y="3749039"/>
            <a:ext cx="457200" cy="457200"/>
          </a:xfrm>
          <a:prstGeom prst="corner">
            <a:avLst/>
          </a:prstGeom>
          <a:noFill/>
          <a:ln w="3175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28104A"/>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026FF"/>
                </a:solidFill>
                <a:latin typeface="Consolas"/>
              </a:defRPr>
            </a:pPr>
            <a:r>
              <a:t>●  06 • CORE MISSION</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Project Objectives</a:t>
            </a:r>
          </a:p>
          <a:p>
            <a:pPr>
              <a:defRPr sz="1100">
                <a:solidFill>
                  <a:srgbClr val="00F2FE"/>
                </a:solidFill>
                <a:latin typeface="Segoe UI"/>
              </a:defRPr>
            </a:pPr>
            <a:r>
              <a:t>Four Strategic Engineering Pillars Governing System Architecture</a:t>
            </a:r>
          </a:p>
        </p:txBody>
      </p:sp>
      <p:sp>
        <p:nvSpPr>
          <p:cNvPr id="12" name="Rectangle 11"/>
          <p:cNvSpPr/>
          <p:nvPr/>
        </p:nvSpPr>
        <p:spPr>
          <a:xfrm>
            <a:off x="731520" y="6309360"/>
            <a:ext cx="10728655" cy="18288"/>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B026FF"/>
                </a:solidFill>
                <a:latin typeface="Consolas"/>
              </a:defRPr>
            </a:pPr>
            <a:r>
              <a:t>06 / 23</a:t>
            </a:r>
          </a:p>
        </p:txBody>
      </p:sp>
      <p:sp>
        <p:nvSpPr>
          <p:cNvPr id="15" name="Rounded Rectangle 14"/>
          <p:cNvSpPr/>
          <p:nvPr/>
        </p:nvSpPr>
        <p:spPr>
          <a:xfrm>
            <a:off x="731520" y="1645920"/>
            <a:ext cx="5120640" cy="2011680"/>
          </a:xfrm>
          <a:prstGeom prst="roundRect">
            <a:avLst/>
          </a:prstGeom>
          <a:solidFill>
            <a:srgbClr val="28104A"/>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164592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1828800"/>
            <a:ext cx="4663440" cy="1645920"/>
          </a:xfrm>
          <a:prstGeom prst="rect">
            <a:avLst/>
          </a:prstGeom>
          <a:noFill/>
        </p:spPr>
        <p:txBody>
          <a:bodyPr wrap="square">
            <a:spAutoFit/>
          </a:bodyPr>
          <a:lstStyle/>
          <a:p>
            <a:pPr>
              <a:defRPr sz="1300" b="1">
                <a:solidFill>
                  <a:srgbClr val="00F2FE"/>
                </a:solidFill>
                <a:latin typeface="Segoe UI"/>
              </a:defRPr>
            </a:pPr>
            <a:r>
              <a:t>1. Automate Receipt Parsing</a:t>
            </a:r>
          </a:p>
          <a:p>
            <a:pPr>
              <a:defRPr sz="1050">
                <a:solidFill>
                  <a:srgbClr val="94A3B8"/>
                </a:solidFill>
                <a:latin typeface="Segoe UI"/>
              </a:defRPr>
            </a:pPr>
            <a:r>
              <a:t>Engineer a sub-4.5s multimodal vision pipeline using Gemini Flash to extract line items, prices, tax, and totals with zero numerical hallucination.</a:t>
            </a:r>
          </a:p>
          <a:p>
            <a:pPr>
              <a:defRPr sz="850" b="1">
                <a:solidFill>
                  <a:srgbClr val="00F2FE"/>
                </a:solidFill>
                <a:latin typeface="Consolas"/>
              </a:defRPr>
            </a:pPr>
            <a:r>
              <a:t>[Performance: &lt;4.5s Processing]</a:t>
            </a:r>
          </a:p>
        </p:txBody>
      </p:sp>
      <p:sp>
        <p:nvSpPr>
          <p:cNvPr id="18" name="Rounded Rectangle 17"/>
          <p:cNvSpPr/>
          <p:nvPr/>
        </p:nvSpPr>
        <p:spPr>
          <a:xfrm>
            <a:off x="6217920" y="1645920"/>
            <a:ext cx="5120640" cy="2011680"/>
          </a:xfrm>
          <a:prstGeom prst="roundRect">
            <a:avLst/>
          </a:prstGeom>
          <a:solidFill>
            <a:srgbClr val="28104A"/>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645920"/>
            <a:ext cx="493776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828800"/>
            <a:ext cx="4663440" cy="1645920"/>
          </a:xfrm>
          <a:prstGeom prst="rect">
            <a:avLst/>
          </a:prstGeom>
          <a:noFill/>
        </p:spPr>
        <p:txBody>
          <a:bodyPr wrap="square">
            <a:spAutoFit/>
          </a:bodyPr>
          <a:lstStyle/>
          <a:p>
            <a:pPr>
              <a:defRPr sz="1300" b="1">
                <a:solidFill>
                  <a:srgbClr val="00FF87"/>
                </a:solidFill>
                <a:latin typeface="Segoe UI"/>
              </a:defRPr>
            </a:pPr>
            <a:r>
              <a:t>2. Multi-Lingual Voice Billing</a:t>
            </a:r>
          </a:p>
          <a:p>
            <a:pPr>
              <a:defRPr sz="1050">
                <a:solidFill>
                  <a:srgbClr val="94A3B8"/>
                </a:solidFill>
                <a:latin typeface="Segoe UI"/>
              </a:defRPr>
            </a:pPr>
            <a:r>
              <a:t>Enable merchants to speak naturally in Marathi, Hindi, or English to record customer purchases, backed by instant Edge TTS regional audio confirmation.</a:t>
            </a:r>
          </a:p>
          <a:p>
            <a:pPr>
              <a:defRPr sz="850" b="1">
                <a:solidFill>
                  <a:srgbClr val="00FF87"/>
                </a:solidFill>
                <a:latin typeface="Consolas"/>
              </a:defRPr>
            </a:pPr>
            <a:r>
              <a:t>[Accessibility: Native Regional Speech]</a:t>
            </a:r>
          </a:p>
        </p:txBody>
      </p:sp>
      <p:sp>
        <p:nvSpPr>
          <p:cNvPr id="21" name="Rounded Rectangle 20"/>
          <p:cNvSpPr/>
          <p:nvPr/>
        </p:nvSpPr>
        <p:spPr>
          <a:xfrm>
            <a:off x="731520" y="3931920"/>
            <a:ext cx="5120640" cy="2011680"/>
          </a:xfrm>
          <a:prstGeom prst="roundRect">
            <a:avLst/>
          </a:prstGeom>
          <a:solidFill>
            <a:srgbClr val="28104A"/>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3931920"/>
            <a:ext cx="493776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114800"/>
            <a:ext cx="4663440" cy="1645920"/>
          </a:xfrm>
          <a:prstGeom prst="rect">
            <a:avLst/>
          </a:prstGeom>
          <a:noFill/>
        </p:spPr>
        <p:txBody>
          <a:bodyPr wrap="square">
            <a:spAutoFit/>
          </a:bodyPr>
          <a:lstStyle/>
          <a:p>
            <a:pPr>
              <a:defRPr sz="1300" b="1">
                <a:solidFill>
                  <a:srgbClr val="B026FF"/>
                </a:solidFill>
                <a:latin typeface="Segoe UI"/>
              </a:defRPr>
            </a:pPr>
            <a:r>
              <a:t>3. Resilient ACID Storage</a:t>
            </a:r>
          </a:p>
          <a:p>
            <a:pPr>
              <a:defRPr sz="1050">
                <a:solidFill>
                  <a:srgbClr val="94A3B8"/>
                </a:solidFill>
                <a:latin typeface="Segoe UI"/>
              </a:defRPr>
            </a:pPr>
            <a:r>
              <a:t>Implement a zero-loss local SQLite engine with Write-Ahead Logging (WAL), atomic transactional commits, and PBKDF2-SHA256 encrypted role security.</a:t>
            </a:r>
          </a:p>
          <a:p>
            <a:pPr>
              <a:defRPr sz="850" b="1">
                <a:solidFill>
                  <a:srgbClr val="B026FF"/>
                </a:solidFill>
                <a:latin typeface="Consolas"/>
              </a:defRPr>
            </a:pPr>
            <a:r>
              <a:t>[Integrity: Crash-Proof ACID WAL]</a:t>
            </a:r>
          </a:p>
        </p:txBody>
      </p:sp>
      <p:sp>
        <p:nvSpPr>
          <p:cNvPr id="24" name="Rounded Rectangle 23"/>
          <p:cNvSpPr/>
          <p:nvPr/>
        </p:nvSpPr>
        <p:spPr>
          <a:xfrm>
            <a:off x="6217920" y="3931920"/>
            <a:ext cx="5120640" cy="2011680"/>
          </a:xfrm>
          <a:prstGeom prst="roundRect">
            <a:avLst/>
          </a:prstGeom>
          <a:solidFill>
            <a:srgbClr val="28104A"/>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3931920"/>
            <a:ext cx="4937760"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114800"/>
            <a:ext cx="4663440" cy="1645920"/>
          </a:xfrm>
          <a:prstGeom prst="rect">
            <a:avLst/>
          </a:prstGeom>
          <a:noFill/>
        </p:spPr>
        <p:txBody>
          <a:bodyPr wrap="square">
            <a:spAutoFit/>
          </a:bodyPr>
          <a:lstStyle/>
          <a:p>
            <a:pPr>
              <a:defRPr sz="1300" b="1">
                <a:solidFill>
                  <a:srgbClr val="4FACFE"/>
                </a:solidFill>
                <a:latin typeface="Segoe UI"/>
              </a:defRPr>
            </a:pPr>
            <a:r>
              <a:t>4. Actionable Intelligence</a:t>
            </a:r>
          </a:p>
          <a:p>
            <a:pPr>
              <a:defRPr sz="1050">
                <a:solidFill>
                  <a:srgbClr val="94A3B8"/>
                </a:solidFill>
                <a:latin typeface="Segoe UI"/>
              </a:defRPr>
            </a:pPr>
            <a:r>
              <a:t>Equip merchants with live analytics KPI cards, high-risk credit tracking, 1-click WhatsApp payment reminders, and context-aware RAG querying.</a:t>
            </a:r>
          </a:p>
          <a:p>
            <a:pPr>
              <a:defRPr sz="850" b="1">
                <a:solidFill>
                  <a:srgbClr val="4FACFE"/>
                </a:solidFill>
                <a:latin typeface="Consolas"/>
              </a:defRPr>
            </a:pPr>
            <a:r>
              <a:t>[Business ROI: Accelerated Recovery]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82A44"/>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07 • PROPOSED PIPELINE //</a:t>
            </a:r>
          </a:p>
        </p:txBody>
      </p:sp>
      <p:sp>
        <p:nvSpPr>
          <p:cNvPr id="6" name="Rectangle 5"/>
          <p:cNvSpPr/>
          <p:nvPr/>
        </p:nvSpPr>
        <p:spPr>
          <a:xfrm>
            <a:off x="731520" y="3657600"/>
            <a:ext cx="10728655" cy="5486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evron 6"/>
          <p:cNvSpPr/>
          <p:nvPr/>
        </p:nvSpPr>
        <p:spPr>
          <a:xfrm>
            <a:off x="3108960" y="3566160"/>
            <a:ext cx="320040" cy="237744"/>
          </a:xfrm>
          <a:prstGeom prst="chevron">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5852160" y="3566160"/>
            <a:ext cx="320040" cy="237744"/>
          </a:xfrm>
          <a:prstGeom prst="chevron">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8595360" y="3566160"/>
            <a:ext cx="320040" cy="237744"/>
          </a:xfrm>
          <a:prstGeom prst="chevron">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082A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2FE"/>
                </a:solidFill>
                <a:latin typeface="Consolas"/>
              </a:defRPr>
            </a:pPr>
            <a:r>
              <a:t>●  07 • OPERATIONAL ARCHITECTURE</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Proposed System</a:t>
            </a:r>
          </a:p>
          <a:p>
            <a:pPr>
              <a:defRPr sz="1100">
                <a:solidFill>
                  <a:srgbClr val="4FACFE"/>
                </a:solidFill>
                <a:latin typeface="Segoe UI"/>
              </a:defRPr>
            </a:pPr>
            <a:r>
              <a:t>Four-Stage Closed-Loop Multimodal Transaction Processing Pipeline</a:t>
            </a:r>
          </a:p>
        </p:txBody>
      </p:sp>
      <p:sp>
        <p:nvSpPr>
          <p:cNvPr id="12" name="Rectangle 11"/>
          <p:cNvSpPr/>
          <p:nvPr/>
        </p:nvSpPr>
        <p:spPr>
          <a:xfrm>
            <a:off x="731520" y="6309360"/>
            <a:ext cx="10728655" cy="18288"/>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00F2FE"/>
                </a:solidFill>
                <a:latin typeface="Consolas"/>
              </a:defRPr>
            </a:pPr>
            <a:r>
              <a:t>07 / 23</a:t>
            </a:r>
          </a:p>
        </p:txBody>
      </p:sp>
      <p:sp>
        <p:nvSpPr>
          <p:cNvPr id="15" name="Rounded Rectangle 14"/>
          <p:cNvSpPr/>
          <p:nvPr/>
        </p:nvSpPr>
        <p:spPr>
          <a:xfrm>
            <a:off x="731520" y="1737360"/>
            <a:ext cx="2468880" cy="4114800"/>
          </a:xfrm>
          <a:prstGeom prst="roundRect">
            <a:avLst/>
          </a:prstGeom>
          <a:solidFill>
            <a:srgbClr val="082A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1737360"/>
            <a:ext cx="228600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011680"/>
            <a:ext cx="2103120" cy="3566160"/>
          </a:xfrm>
          <a:prstGeom prst="rect">
            <a:avLst/>
          </a:prstGeom>
          <a:noFill/>
        </p:spPr>
        <p:txBody>
          <a:bodyPr wrap="square">
            <a:spAutoFit/>
          </a:bodyPr>
          <a:lstStyle/>
          <a:p>
            <a:pPr>
              <a:defRPr sz="1300" b="1">
                <a:solidFill>
                  <a:srgbClr val="00F2FE"/>
                </a:solidFill>
                <a:latin typeface="Segoe UI"/>
              </a:defRPr>
            </a:pPr>
            <a:r>
              <a:t>🧑‍💼 1. Merchant Actor</a:t>
            </a:r>
          </a:p>
          <a:p>
            <a:pPr>
              <a:defRPr sz="1050">
                <a:solidFill>
                  <a:srgbClr val="94A3B8"/>
                </a:solidFill>
                <a:latin typeface="Segoe UI"/>
              </a:defRPr>
            </a:pPr>
            <a:r>
              <a:t>Interacts via Voice Mic, Live Camera capture, or Direct POS Touch UI.</a:t>
            </a:r>
          </a:p>
          <a:p>
            <a:br/>
            <a:pPr>
              <a:defRPr sz="900" b="1">
                <a:solidFill>
                  <a:srgbClr val="00F2FE"/>
                </a:solidFill>
                <a:latin typeface="Consolas"/>
              </a:defRPr>
            </a:pPr>
            <a:r>
              <a:t>Pipeline Role:</a:t>
            </a:r>
            <a:br/>
            <a:r>
              <a:t>Multimodal Input Ingestion</a:t>
            </a:r>
          </a:p>
        </p:txBody>
      </p:sp>
      <p:sp>
        <p:nvSpPr>
          <p:cNvPr id="18" name="Rounded Rectangle 17"/>
          <p:cNvSpPr/>
          <p:nvPr/>
        </p:nvSpPr>
        <p:spPr>
          <a:xfrm>
            <a:off x="3474720" y="1737360"/>
            <a:ext cx="2468880" cy="4114800"/>
          </a:xfrm>
          <a:prstGeom prst="roundRect">
            <a:avLst/>
          </a:prstGeom>
          <a:solidFill>
            <a:srgbClr val="082A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66160" y="1737360"/>
            <a:ext cx="228600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2011680"/>
            <a:ext cx="2103120" cy="3566160"/>
          </a:xfrm>
          <a:prstGeom prst="rect">
            <a:avLst/>
          </a:prstGeom>
          <a:noFill/>
        </p:spPr>
        <p:txBody>
          <a:bodyPr wrap="square">
            <a:spAutoFit/>
          </a:bodyPr>
          <a:lstStyle/>
          <a:p>
            <a:pPr>
              <a:defRPr sz="1300" b="1">
                <a:solidFill>
                  <a:srgbClr val="B026FF"/>
                </a:solidFill>
                <a:latin typeface="Segoe UI"/>
              </a:defRPr>
            </a:pPr>
            <a:r>
              <a:t>🧠 2. AI Parser Module</a:t>
            </a:r>
          </a:p>
          <a:p>
            <a:pPr>
              <a:defRPr sz="1050">
                <a:solidFill>
                  <a:srgbClr val="94A3B8"/>
                </a:solidFill>
                <a:latin typeface="Segoe UI"/>
              </a:defRPr>
            </a:pPr>
            <a:r>
              <a:t>Gemini Multimodal Vision &amp; NLP converts raw audio/receipts into validated, strict JSON schemas.</a:t>
            </a:r>
          </a:p>
          <a:p>
            <a:br/>
            <a:pPr>
              <a:defRPr sz="900" b="1">
                <a:solidFill>
                  <a:srgbClr val="B026FF"/>
                </a:solidFill>
                <a:latin typeface="Consolas"/>
              </a:defRPr>
            </a:pPr>
            <a:r>
              <a:t>Pipeline Role:</a:t>
            </a:r>
            <a:br/>
            <a:r>
              <a:t>Strict JSON Enforcement</a:t>
            </a:r>
          </a:p>
        </p:txBody>
      </p:sp>
      <p:sp>
        <p:nvSpPr>
          <p:cNvPr id="21" name="Rounded Rectangle 20"/>
          <p:cNvSpPr/>
          <p:nvPr/>
        </p:nvSpPr>
        <p:spPr>
          <a:xfrm>
            <a:off x="6217920" y="1737360"/>
            <a:ext cx="2468880" cy="4114800"/>
          </a:xfrm>
          <a:prstGeom prst="roundRect">
            <a:avLst/>
          </a:prstGeom>
          <a:solidFill>
            <a:srgbClr val="082A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1737360"/>
            <a:ext cx="228600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011680"/>
            <a:ext cx="2103120" cy="3566160"/>
          </a:xfrm>
          <a:prstGeom prst="rect">
            <a:avLst/>
          </a:prstGeom>
          <a:noFill/>
        </p:spPr>
        <p:txBody>
          <a:bodyPr wrap="square">
            <a:spAutoFit/>
          </a:bodyPr>
          <a:lstStyle/>
          <a:p>
            <a:pPr>
              <a:defRPr sz="1300" b="1">
                <a:solidFill>
                  <a:srgbClr val="00FF87"/>
                </a:solidFill>
                <a:latin typeface="Segoe UI"/>
              </a:defRPr>
            </a:pPr>
            <a:r>
              <a:t>💾 3. Transaction Engine</a:t>
            </a:r>
          </a:p>
          <a:p>
            <a:pPr>
              <a:defRPr sz="1050">
                <a:solidFill>
                  <a:srgbClr val="94A3B8"/>
                </a:solidFill>
                <a:latin typeface="Segoe UI"/>
              </a:defRPr>
            </a:pPr>
            <a:r>
              <a:t>Commits validated records securely to local SQLite tables ensuring ACID atomicity &amp; stock updates.</a:t>
            </a:r>
          </a:p>
          <a:p>
            <a:br/>
            <a:pPr>
              <a:defRPr sz="900" b="1">
                <a:solidFill>
                  <a:srgbClr val="00FF87"/>
                </a:solidFill>
                <a:latin typeface="Consolas"/>
              </a:defRPr>
            </a:pPr>
            <a:r>
              <a:t>Pipeline Role:</a:t>
            </a:r>
            <a:br/>
            <a:r>
              <a:t>ACID Atomic Commit</a:t>
            </a:r>
          </a:p>
        </p:txBody>
      </p:sp>
      <p:sp>
        <p:nvSpPr>
          <p:cNvPr id="24" name="Rounded Rectangle 23"/>
          <p:cNvSpPr/>
          <p:nvPr/>
        </p:nvSpPr>
        <p:spPr>
          <a:xfrm>
            <a:off x="8961120" y="1737360"/>
            <a:ext cx="2468880" cy="4114800"/>
          </a:xfrm>
          <a:prstGeom prst="roundRect">
            <a:avLst/>
          </a:prstGeom>
          <a:solidFill>
            <a:srgbClr val="082A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37360"/>
            <a:ext cx="2286000"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2011680"/>
            <a:ext cx="2103120" cy="3566160"/>
          </a:xfrm>
          <a:prstGeom prst="rect">
            <a:avLst/>
          </a:prstGeom>
          <a:noFill/>
        </p:spPr>
        <p:txBody>
          <a:bodyPr wrap="square">
            <a:spAutoFit/>
          </a:bodyPr>
          <a:lstStyle/>
          <a:p>
            <a:pPr>
              <a:defRPr sz="1300" b="1">
                <a:solidFill>
                  <a:srgbClr val="4FACFE"/>
                </a:solidFill>
                <a:latin typeface="Segoe UI"/>
              </a:defRPr>
            </a:pPr>
            <a:r>
              <a:t>🔊 4. Feedback Loop</a:t>
            </a:r>
          </a:p>
          <a:p>
            <a:pPr>
              <a:defRPr sz="1050">
                <a:solidFill>
                  <a:srgbClr val="94A3B8"/>
                </a:solidFill>
                <a:latin typeface="Segoe UI"/>
              </a:defRPr>
            </a:pPr>
            <a:r>
              <a:t>Synthesizes Marathi spoken receipt confirmation via Edge TTS and updates live dashboards.</a:t>
            </a:r>
          </a:p>
          <a:p>
            <a:br/>
            <a:pPr>
              <a:defRPr sz="900" b="1">
                <a:solidFill>
                  <a:srgbClr val="4FACFE"/>
                </a:solidFill>
                <a:latin typeface="Consolas"/>
              </a:defRPr>
            </a:pPr>
            <a:r>
              <a:t>Pipeline Role:</a:t>
            </a:r>
            <a:br/>
            <a:r>
              <a:t>Regional Voice Confirmation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63024"/>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08 • TECH ARCHITECTURE //</a:t>
            </a:r>
          </a:p>
        </p:txBody>
      </p:sp>
      <p:sp>
        <p:nvSpPr>
          <p:cNvPr id="6" name="Oval 5"/>
          <p:cNvSpPr/>
          <p:nvPr/>
        </p:nvSpPr>
        <p:spPr>
          <a:xfrm>
            <a:off x="320040" y="2286000"/>
            <a:ext cx="228600" cy="228600"/>
          </a:xfrm>
          <a:prstGeom prst="ellipse">
            <a:avLst/>
          </a:prstGeom>
          <a:solidFill>
            <a:srgbClr val="00FF8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20040" y="4572000"/>
            <a:ext cx="228600" cy="228600"/>
          </a:xfrm>
          <a:prstGeom prst="ellipse">
            <a:avLst/>
          </a:prstGeom>
          <a:solidFill>
            <a:srgbClr val="00FF8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04320" y="2286000"/>
            <a:ext cx="228600" cy="228600"/>
          </a:xfrm>
          <a:prstGeom prst="ellipse">
            <a:avLst/>
          </a:prstGeom>
          <a:solidFill>
            <a:srgbClr val="00FF8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0" y="4572000"/>
            <a:ext cx="228600" cy="228600"/>
          </a:xfrm>
          <a:prstGeom prst="ellipse">
            <a:avLst/>
          </a:prstGeom>
          <a:solidFill>
            <a:srgbClr val="00FF8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063024"/>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08 • ENGINEERING STACK</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Technologies &amp; Tools</a:t>
            </a:r>
          </a:p>
          <a:p>
            <a:pPr>
              <a:defRPr sz="1100">
                <a:solidFill>
                  <a:srgbClr val="00F2FE"/>
                </a:solidFill>
                <a:latin typeface="Segoe UI"/>
              </a:defRPr>
            </a:pPr>
            <a:r>
              <a:t>Modern, Robust, and Scalable Full-Stack Technological Foundation</a:t>
            </a:r>
          </a:p>
        </p:txBody>
      </p:sp>
      <p:sp>
        <p:nvSpPr>
          <p:cNvPr id="12" name="Rectangle 11"/>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08 / 23</a:t>
            </a:r>
          </a:p>
        </p:txBody>
      </p:sp>
      <p:sp>
        <p:nvSpPr>
          <p:cNvPr id="15" name="Rounded Rectangle 14"/>
          <p:cNvSpPr/>
          <p:nvPr/>
        </p:nvSpPr>
        <p:spPr>
          <a:xfrm>
            <a:off x="731520" y="1737360"/>
            <a:ext cx="3328416" cy="4114800"/>
          </a:xfrm>
          <a:prstGeom prst="roundRect">
            <a:avLst/>
          </a:prstGeom>
          <a:solidFill>
            <a:srgbClr val="063024"/>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1737360"/>
            <a:ext cx="3145536"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011680"/>
            <a:ext cx="2871216" cy="3566160"/>
          </a:xfrm>
          <a:prstGeom prst="rect">
            <a:avLst/>
          </a:prstGeom>
          <a:noFill/>
        </p:spPr>
        <p:txBody>
          <a:bodyPr wrap="square">
            <a:spAutoFit/>
          </a:bodyPr>
          <a:lstStyle/>
          <a:p>
            <a:pPr>
              <a:defRPr sz="1400" b="1">
                <a:solidFill>
                  <a:srgbClr val="00FF87"/>
                </a:solidFill>
                <a:latin typeface="Segoe UI"/>
              </a:defRPr>
            </a:pPr>
            <a:r>
              <a:t>⚡ Frontend &amp; Logic</a:t>
            </a:r>
          </a:p>
          <a:p>
            <a:pPr>
              <a:defRPr sz="1050">
                <a:solidFill>
                  <a:srgbClr val="94A3B8"/>
                </a:solidFill>
                <a:latin typeface="Segoe UI"/>
              </a:defRPr>
            </a:pPr>
            <a:r>
              <a:t>• FastAPI Serverless Python Backend</a:t>
            </a:r>
            <a:br/>
            <a:r>
              <a:t>• Cyberpunk HTML5/ES6+ SPA Interface</a:t>
            </a:r>
            <a:br/>
            <a:r>
              <a:t>• Web Speech API + Native Audio Recording</a:t>
            </a:r>
            <a:br/>
            <a:r>
              <a:t>• VernaStorage: Hybrid Local-First Engine</a:t>
            </a:r>
          </a:p>
          <a:p>
            <a:br/>
            <a:pPr>
              <a:defRPr sz="950" b="1">
                <a:solidFill>
                  <a:srgbClr val="00FF87"/>
                </a:solidFill>
                <a:latin typeface="Consolas"/>
              </a:defRPr>
            </a:pPr>
            <a:r>
              <a:t>Key Modules: FastAPI • Vanilla JS • VernaStorage</a:t>
            </a:r>
          </a:p>
        </p:txBody>
      </p:sp>
      <p:sp>
        <p:nvSpPr>
          <p:cNvPr id="18" name="Rounded Rectangle 17"/>
          <p:cNvSpPr/>
          <p:nvPr/>
        </p:nvSpPr>
        <p:spPr>
          <a:xfrm>
            <a:off x="4389120" y="1737360"/>
            <a:ext cx="3328416" cy="4114800"/>
          </a:xfrm>
          <a:prstGeom prst="roundRect">
            <a:avLst/>
          </a:prstGeom>
          <a:solidFill>
            <a:srgbClr val="063024"/>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1737360"/>
            <a:ext cx="3145536"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2011680"/>
            <a:ext cx="2871216" cy="3566160"/>
          </a:xfrm>
          <a:prstGeom prst="rect">
            <a:avLst/>
          </a:prstGeom>
          <a:noFill/>
        </p:spPr>
        <p:txBody>
          <a:bodyPr wrap="square">
            <a:spAutoFit/>
          </a:bodyPr>
          <a:lstStyle/>
          <a:p>
            <a:pPr>
              <a:defRPr sz="1400" b="1">
                <a:solidFill>
                  <a:srgbClr val="00F2FE"/>
                </a:solidFill>
                <a:latin typeface="Segoe UI"/>
              </a:defRPr>
            </a:pPr>
            <a:r>
              <a:t>🧠 AI Architecture Pillars</a:t>
            </a:r>
          </a:p>
          <a:p>
            <a:pPr>
              <a:defRPr sz="1050">
                <a:solidFill>
                  <a:srgbClr val="94A3B8"/>
                </a:solidFill>
                <a:latin typeface="Segoe UI"/>
              </a:defRPr>
            </a:pPr>
            <a:r>
              <a:t>• 5 Multimodal Scanner Pillars (ViT, TPU Cloud, Attention, Doc AI)</a:t>
            </a:r>
            <a:br/>
            <a:r>
              <a:t>• 4 Chatbot Core Pillars (Vernacular ASR, LLM Reasoning, ACID WAL)</a:t>
            </a:r>
            <a:br/>
            <a:r>
              <a:t>• Gemini 3.1 Flash-Lite Intelligence</a:t>
            </a:r>
            <a:br/>
            <a:r>
              <a:t>• Edge TTS Neural Marathi Synthesis</a:t>
            </a:r>
          </a:p>
          <a:p>
            <a:br/>
            <a:pPr>
              <a:defRPr sz="950" b="1">
                <a:solidFill>
                  <a:srgbClr val="00F2FE"/>
                </a:solidFill>
                <a:latin typeface="Consolas"/>
              </a:defRPr>
            </a:pPr>
            <a:r>
              <a:t>Key Modules: 5 Scanner &amp; 4 Chatbot Pillars</a:t>
            </a:r>
          </a:p>
        </p:txBody>
      </p:sp>
      <p:sp>
        <p:nvSpPr>
          <p:cNvPr id="21" name="Rounded Rectangle 20"/>
          <p:cNvSpPr/>
          <p:nvPr/>
        </p:nvSpPr>
        <p:spPr>
          <a:xfrm>
            <a:off x="8046720" y="1737360"/>
            <a:ext cx="3328416" cy="4114800"/>
          </a:xfrm>
          <a:prstGeom prst="roundRect">
            <a:avLst/>
          </a:prstGeom>
          <a:solidFill>
            <a:srgbClr val="063024"/>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1737360"/>
            <a:ext cx="3145536"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011680"/>
            <a:ext cx="2871216" cy="3566160"/>
          </a:xfrm>
          <a:prstGeom prst="rect">
            <a:avLst/>
          </a:prstGeom>
          <a:noFill/>
        </p:spPr>
        <p:txBody>
          <a:bodyPr wrap="square">
            <a:spAutoFit/>
          </a:bodyPr>
          <a:lstStyle/>
          <a:p>
            <a:pPr>
              <a:defRPr sz="1400" b="1">
                <a:solidFill>
                  <a:srgbClr val="B026FF"/>
                </a:solidFill>
                <a:latin typeface="Segoe UI"/>
              </a:defRPr>
            </a:pPr>
            <a:r>
              <a:t>🛡️ Database &amp; Auto-Sync</a:t>
            </a:r>
          </a:p>
          <a:p>
            <a:pPr>
              <a:defRPr sz="1050">
                <a:solidFill>
                  <a:srgbClr val="94A3B8"/>
                </a:solidFill>
                <a:latin typeface="Segoe UI"/>
              </a:defRPr>
            </a:pPr>
            <a:r>
              <a:t>• SQLite 3 (ACID Compliant, WAL Mode)</a:t>
            </a:r>
            <a:br/>
            <a:r>
              <a:t>• Bi-Directional /api/sync Cloud Auto-Sync</a:t>
            </a:r>
            <a:br/>
            <a:r>
              <a:t>• Zero Serverless Cold-Start Data Loss</a:t>
            </a:r>
            <a:br/>
            <a:r>
              <a:t>• Native Excel (.xlsx) &amp; Thermal Print</a:t>
            </a:r>
          </a:p>
          <a:p>
            <a:br/>
            <a:pPr>
              <a:defRPr sz="950" b="1">
                <a:solidFill>
                  <a:srgbClr val="B026FF"/>
                </a:solidFill>
                <a:latin typeface="Consolas"/>
              </a:defRPr>
            </a:pPr>
            <a:r>
              <a:t>Key Modules: SQLite WAL • Cloud Auto-Sync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0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2E1252"/>
          </a:solidFill>
          <a:ln w="1270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026FF"/>
                </a:solidFill>
                <a:latin typeface="Consolas"/>
              </a:defRPr>
            </a:pPr>
            <a:r>
              <a:t>// 09 • 3-TIER TOPOLOGY //</a:t>
            </a:r>
          </a:p>
        </p:txBody>
      </p:sp>
      <p:sp>
        <p:nvSpPr>
          <p:cNvPr id="6" name="Rectangle 5"/>
          <p:cNvSpPr/>
          <p:nvPr/>
        </p:nvSpPr>
        <p:spPr>
          <a:xfrm>
            <a:off x="731520" y="3108960"/>
            <a:ext cx="1072865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4663440"/>
            <a:ext cx="10728655"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2E1252"/>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026FF"/>
                </a:solidFill>
                <a:latin typeface="Consolas"/>
              </a:defRPr>
            </a:pPr>
            <a:r>
              <a:t>●  09 • STRUCTURAL DESIGN</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System Architecture</a:t>
            </a:r>
          </a:p>
          <a:p>
            <a:pPr>
              <a:defRPr sz="1100">
                <a:solidFill>
                  <a:srgbClr val="4FACFE"/>
                </a:solidFill>
                <a:latin typeface="Segoe UI"/>
              </a:defRPr>
            </a:pPr>
            <a:r>
              <a:t>Modular 3-Tier Layered Architecture with Strict Separation of Concerns</a:t>
            </a:r>
          </a:p>
        </p:txBody>
      </p:sp>
      <p:sp>
        <p:nvSpPr>
          <p:cNvPr id="10" name="Rectangle 9"/>
          <p:cNvSpPr/>
          <p:nvPr/>
        </p:nvSpPr>
        <p:spPr>
          <a:xfrm>
            <a:off x="731520" y="6309360"/>
            <a:ext cx="10728655" cy="18288"/>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B026FF"/>
                </a:solidFill>
                <a:latin typeface="Consolas"/>
              </a:defRPr>
            </a:pPr>
            <a:r>
              <a:t>09 / 23</a:t>
            </a:r>
          </a:p>
        </p:txBody>
      </p:sp>
      <p:sp>
        <p:nvSpPr>
          <p:cNvPr id="13" name="Rounded Rectangle 12"/>
          <p:cNvSpPr/>
          <p:nvPr/>
        </p:nvSpPr>
        <p:spPr>
          <a:xfrm>
            <a:off x="731520" y="1920240"/>
            <a:ext cx="3017520" cy="2011680"/>
          </a:xfrm>
          <a:prstGeom prst="roundRect">
            <a:avLst/>
          </a:prstGeom>
          <a:solidFill>
            <a:srgbClr val="2E1252"/>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920240"/>
            <a:ext cx="283464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148840"/>
            <a:ext cx="2743200" cy="1554480"/>
          </a:xfrm>
          <a:prstGeom prst="rect">
            <a:avLst/>
          </a:prstGeom>
          <a:noFill/>
        </p:spPr>
        <p:txBody>
          <a:bodyPr wrap="square">
            <a:spAutoFit/>
          </a:bodyPr>
          <a:lstStyle/>
          <a:p>
            <a:pPr>
              <a:defRPr sz="1300" b="1">
                <a:solidFill>
                  <a:srgbClr val="00F2FE"/>
                </a:solidFill>
                <a:latin typeface="Segoe UI"/>
              </a:defRPr>
            </a:pPr>
            <a:r>
              <a:t>1. PRESENTATION LAYER</a:t>
            </a:r>
          </a:p>
          <a:p>
            <a:pPr>
              <a:defRPr sz="1050">
                <a:solidFill>
                  <a:srgbClr val="F8FAFC"/>
                </a:solidFill>
                <a:latin typeface="Segoe UI"/>
              </a:defRPr>
            </a:pPr>
            <a:r>
              <a:t>Streamlit UI • Camera Ingestion</a:t>
            </a:r>
            <a:br/>
            <a:r>
              <a:t>Mic Recording • Glassmorphic HUD</a:t>
            </a:r>
            <a:br/>
            <a:r>
              <a:t>Interactive DataFrames</a:t>
            </a:r>
          </a:p>
        </p:txBody>
      </p:sp>
      <p:sp>
        <p:nvSpPr>
          <p:cNvPr id="16" name="TextBox 15"/>
          <p:cNvSpPr txBox="1"/>
          <p:nvPr/>
        </p:nvSpPr>
        <p:spPr>
          <a:xfrm>
            <a:off x="3840480" y="2651760"/>
            <a:ext cx="640080" cy="548640"/>
          </a:xfrm>
          <a:prstGeom prst="rect">
            <a:avLst/>
          </a:prstGeom>
          <a:noFill/>
        </p:spPr>
        <p:txBody>
          <a:bodyPr wrap="none">
            <a:spAutoFit/>
          </a:bodyPr>
          <a:lstStyle/>
          <a:p>
            <a:pPr algn="ctr">
              <a:defRPr sz="2800" b="1">
                <a:solidFill>
                  <a:srgbClr val="00F2FE"/>
                </a:solidFill>
                <a:latin typeface="Segoe UI"/>
              </a:defRPr>
            </a:pPr>
            <a:r>
              <a:t>➔</a:t>
            </a:r>
          </a:p>
        </p:txBody>
      </p:sp>
      <p:sp>
        <p:nvSpPr>
          <p:cNvPr id="17" name="Rounded Rectangle 16"/>
          <p:cNvSpPr/>
          <p:nvPr/>
        </p:nvSpPr>
        <p:spPr>
          <a:xfrm>
            <a:off x="4572000" y="1920240"/>
            <a:ext cx="3017520" cy="2011680"/>
          </a:xfrm>
          <a:prstGeom prst="roundRect">
            <a:avLst/>
          </a:prstGeom>
          <a:solidFill>
            <a:srgbClr val="2E1252"/>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63440" y="1920240"/>
            <a:ext cx="283464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2148840"/>
            <a:ext cx="2743200" cy="1554480"/>
          </a:xfrm>
          <a:prstGeom prst="rect">
            <a:avLst/>
          </a:prstGeom>
          <a:noFill/>
        </p:spPr>
        <p:txBody>
          <a:bodyPr wrap="square">
            <a:spAutoFit/>
          </a:bodyPr>
          <a:lstStyle/>
          <a:p>
            <a:pPr>
              <a:defRPr sz="1300" b="1">
                <a:solidFill>
                  <a:srgbClr val="B026FF"/>
                </a:solidFill>
                <a:latin typeface="Segoe UI"/>
              </a:defRPr>
            </a:pPr>
            <a:r>
              <a:t>2. INTELLIGENCE LAYER</a:t>
            </a:r>
          </a:p>
          <a:p>
            <a:pPr>
              <a:defRPr sz="1050">
                <a:solidFill>
                  <a:srgbClr val="F8FAFC"/>
                </a:solidFill>
                <a:latin typeface="Segoe UI"/>
              </a:defRPr>
            </a:pPr>
            <a:r>
              <a:t>Gemini Multimodal OCR Engine</a:t>
            </a:r>
            <a:br/>
            <a:r>
              <a:t>Marathi Voice NLP Parser • RAG Chat</a:t>
            </a:r>
            <a:br/>
            <a:r>
              <a:t>Edge TTS Voice Synthesizer</a:t>
            </a:r>
          </a:p>
        </p:txBody>
      </p:sp>
      <p:sp>
        <p:nvSpPr>
          <p:cNvPr id="20" name="TextBox 19"/>
          <p:cNvSpPr txBox="1"/>
          <p:nvPr/>
        </p:nvSpPr>
        <p:spPr>
          <a:xfrm>
            <a:off x="7680960" y="2651760"/>
            <a:ext cx="640080" cy="548640"/>
          </a:xfrm>
          <a:prstGeom prst="rect">
            <a:avLst/>
          </a:prstGeom>
          <a:noFill/>
        </p:spPr>
        <p:txBody>
          <a:bodyPr wrap="none">
            <a:spAutoFit/>
          </a:bodyPr>
          <a:lstStyle/>
          <a:p>
            <a:pPr algn="ctr">
              <a:defRPr sz="2800" b="1">
                <a:solidFill>
                  <a:srgbClr val="00F2FE"/>
                </a:solidFill>
                <a:latin typeface="Segoe UI"/>
              </a:defRPr>
            </a:pPr>
            <a:r>
              <a:t>➔</a:t>
            </a:r>
          </a:p>
        </p:txBody>
      </p:sp>
      <p:sp>
        <p:nvSpPr>
          <p:cNvPr id="21" name="Rounded Rectangle 20"/>
          <p:cNvSpPr/>
          <p:nvPr/>
        </p:nvSpPr>
        <p:spPr>
          <a:xfrm>
            <a:off x="8412480" y="1920240"/>
            <a:ext cx="3017520" cy="2011680"/>
          </a:xfrm>
          <a:prstGeom prst="roundRect">
            <a:avLst/>
          </a:prstGeom>
          <a:solidFill>
            <a:srgbClr val="2E1252"/>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3920" y="1920240"/>
            <a:ext cx="283464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2148840"/>
            <a:ext cx="2743200" cy="1554480"/>
          </a:xfrm>
          <a:prstGeom prst="rect">
            <a:avLst/>
          </a:prstGeom>
          <a:noFill/>
        </p:spPr>
        <p:txBody>
          <a:bodyPr wrap="square">
            <a:spAutoFit/>
          </a:bodyPr>
          <a:lstStyle/>
          <a:p>
            <a:pPr>
              <a:defRPr sz="1300" b="1">
                <a:solidFill>
                  <a:srgbClr val="00FF87"/>
                </a:solidFill>
                <a:latin typeface="Segoe UI"/>
              </a:defRPr>
            </a:pPr>
            <a:r>
              <a:t>3. PERSISTENCE LAYER</a:t>
            </a:r>
          </a:p>
          <a:p>
            <a:pPr>
              <a:defRPr sz="1050">
                <a:solidFill>
                  <a:srgbClr val="F8FAFC"/>
                </a:solidFill>
                <a:latin typeface="Segoe UI"/>
              </a:defRPr>
            </a:pPr>
            <a:r>
              <a:t>SQLite Relational Engine (WAL Mode)</a:t>
            </a:r>
            <a:br/>
            <a:r>
              <a:t>PBKDF2 Password Hashing</a:t>
            </a:r>
            <a:br/>
            <a:r>
              <a:t>ACID Transaction Logging &amp; Audits</a:t>
            </a:r>
          </a:p>
        </p:txBody>
      </p:sp>
      <p:sp>
        <p:nvSpPr>
          <p:cNvPr id="24" name="Rounded Rectangle 23"/>
          <p:cNvSpPr/>
          <p:nvPr/>
        </p:nvSpPr>
        <p:spPr>
          <a:xfrm>
            <a:off x="731520" y="4389120"/>
            <a:ext cx="10728655" cy="1463040"/>
          </a:xfrm>
          <a:prstGeom prst="roundRect">
            <a:avLst/>
          </a:prstGeom>
          <a:solidFill>
            <a:srgbClr val="2E1252"/>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4389120"/>
            <a:ext cx="10545775"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80560"/>
            <a:ext cx="10362895" cy="1280160"/>
          </a:xfrm>
          <a:prstGeom prst="rect">
            <a:avLst/>
          </a:prstGeom>
          <a:noFill/>
        </p:spPr>
        <p:txBody>
          <a:bodyPr wrap="square">
            <a:spAutoFit/>
          </a:bodyPr>
          <a:lstStyle/>
          <a:p>
            <a:pPr>
              <a:defRPr sz="1050" b="1">
                <a:solidFill>
                  <a:srgbClr val="00F2FE"/>
                </a:solidFill>
                <a:latin typeface="Consolas"/>
              </a:defRPr>
            </a:pPr>
            <a:r>
              <a:t>CORE ARCHITECTURAL PRINCIPLES:</a:t>
            </a:r>
          </a:p>
          <a:p>
            <a:pPr>
              <a:defRPr sz="1050">
                <a:solidFill>
                  <a:srgbClr val="94A3B8"/>
                </a:solidFill>
                <a:latin typeface="Segoe UI"/>
              </a:defRPr>
            </a:pPr>
            <a:r>
              <a:t>The presentation layer is strictly decoupled from the intelligence pipeline. Raw inputs captured via camera or mic are streamed over TLS to Gemini Flash with zero local model overhead. Validated JSON payloads are passed directly to SQLite transactions with Write-Ahead Logging (WAL) enabled, ensuring instantaneous commit speeds (&lt;2ms) and robust crash recovery.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A244E"/>
          </a:solidFill>
          <a:ln w="1270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4FACFE"/>
                </a:solidFill>
                <a:latin typeface="Consolas"/>
              </a:defRPr>
            </a:pPr>
            <a:r>
              <a:t>// 10 • EXECUTION STREAM //</a:t>
            </a:r>
          </a:p>
        </p:txBody>
      </p:sp>
      <p:sp>
        <p:nvSpPr>
          <p:cNvPr id="6" name="Rectangle 5"/>
          <p:cNvSpPr/>
          <p:nvPr/>
        </p:nvSpPr>
        <p:spPr>
          <a:xfrm>
            <a:off x="731520" y="1463040"/>
            <a:ext cx="10728655"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365760"/>
            <a:ext cx="3291840" cy="32004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4FACFE"/>
                </a:solidFill>
                <a:latin typeface="Consolas"/>
              </a:defRPr>
            </a:pPr>
            <a:r>
              <a:t>●  10 • EXECUTION PIPELINE</a:t>
            </a:r>
          </a:p>
        </p:txBody>
      </p:sp>
      <p:sp>
        <p:nvSpPr>
          <p:cNvPr id="8" name="TextBox 7"/>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Working Flow (Runtime Execution)</a:t>
            </a:r>
          </a:p>
          <a:p>
            <a:pPr>
              <a:defRPr sz="1100">
                <a:solidFill>
                  <a:srgbClr val="00F2FE"/>
                </a:solidFill>
                <a:latin typeface="Segoe UI"/>
              </a:defRPr>
            </a:pPr>
            <a:r>
              <a:t>Step-by-Step Lifecycle of a Transaction Through the VernaLedger System</a:t>
            </a:r>
          </a:p>
        </p:txBody>
      </p:sp>
      <p:sp>
        <p:nvSpPr>
          <p:cNvPr id="9" name="Rectangle 8"/>
          <p:cNvSpPr/>
          <p:nvPr/>
        </p:nvSpPr>
        <p:spPr>
          <a:xfrm>
            <a:off x="731520" y="6309360"/>
            <a:ext cx="10728655" cy="18288"/>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1" name="TextBox 10"/>
          <p:cNvSpPr txBox="1"/>
          <p:nvPr/>
        </p:nvSpPr>
        <p:spPr>
          <a:xfrm>
            <a:off x="9601200" y="6355080"/>
            <a:ext cx="1828800" cy="365760"/>
          </a:xfrm>
          <a:prstGeom prst="rect">
            <a:avLst/>
          </a:prstGeom>
          <a:noFill/>
        </p:spPr>
        <p:txBody>
          <a:bodyPr wrap="none">
            <a:spAutoFit/>
          </a:bodyPr>
          <a:lstStyle/>
          <a:p>
            <a:pPr algn="r">
              <a:defRPr sz="900" b="1">
                <a:solidFill>
                  <a:srgbClr val="4FACFE"/>
                </a:solidFill>
                <a:latin typeface="Consolas"/>
              </a:defRPr>
            </a:pPr>
            <a:r>
              <a:t>10 / 23</a:t>
            </a:r>
          </a:p>
        </p:txBody>
      </p:sp>
      <p:sp>
        <p:nvSpPr>
          <p:cNvPr id="12" name="Rounded Rectangle 11"/>
          <p:cNvSpPr/>
          <p:nvPr/>
        </p:nvSpPr>
        <p:spPr>
          <a:xfrm>
            <a:off x="731520" y="1737360"/>
            <a:ext cx="1965960" cy="411480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1737360"/>
            <a:ext cx="178308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1965960"/>
            <a:ext cx="1691640" cy="3657600"/>
          </a:xfrm>
          <a:prstGeom prst="rect">
            <a:avLst/>
          </a:prstGeom>
          <a:noFill/>
        </p:spPr>
        <p:txBody>
          <a:bodyPr wrap="square">
            <a:spAutoFit/>
          </a:bodyPr>
          <a:lstStyle/>
          <a:p>
            <a:pPr>
              <a:defRPr sz="1100" b="1">
                <a:solidFill>
                  <a:srgbClr val="00F2FE"/>
                </a:solidFill>
                <a:latin typeface="Consolas"/>
              </a:defRPr>
            </a:pPr>
            <a:r>
              <a:t>Step 01</a:t>
            </a:r>
          </a:p>
          <a:p>
            <a:pPr>
              <a:defRPr sz="1250" b="1">
                <a:solidFill>
                  <a:srgbClr val="F8FAFC"/>
                </a:solidFill>
                <a:latin typeface="Segoe UI"/>
              </a:defRPr>
            </a:pPr>
            <a:r>
              <a:t>Input Trigger</a:t>
            </a:r>
          </a:p>
          <a:p>
            <a:pPr>
              <a:defRPr sz="1000">
                <a:solidFill>
                  <a:srgbClr val="94A3B8"/>
                </a:solidFill>
                <a:latin typeface="Segoe UI"/>
              </a:defRPr>
            </a:pPr>
            <a:r>
              <a:t>Shopkeeper captures receipt photo via camera or speaks bill in Marathi into the mic.</a:t>
            </a:r>
          </a:p>
        </p:txBody>
      </p:sp>
      <p:sp>
        <p:nvSpPr>
          <p:cNvPr id="15" name="Rounded Rectangle 14"/>
          <p:cNvSpPr/>
          <p:nvPr/>
        </p:nvSpPr>
        <p:spPr>
          <a:xfrm>
            <a:off x="2926080" y="1737360"/>
            <a:ext cx="1965960" cy="411480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17520" y="1737360"/>
            <a:ext cx="1783080"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63240" y="1965960"/>
            <a:ext cx="1691640" cy="3657600"/>
          </a:xfrm>
          <a:prstGeom prst="rect">
            <a:avLst/>
          </a:prstGeom>
          <a:noFill/>
        </p:spPr>
        <p:txBody>
          <a:bodyPr wrap="square">
            <a:spAutoFit/>
          </a:bodyPr>
          <a:lstStyle/>
          <a:p>
            <a:pPr>
              <a:defRPr sz="1100" b="1">
                <a:solidFill>
                  <a:srgbClr val="4FACFE"/>
                </a:solidFill>
                <a:latin typeface="Consolas"/>
              </a:defRPr>
            </a:pPr>
            <a:r>
              <a:t>Step 02</a:t>
            </a:r>
          </a:p>
          <a:p>
            <a:pPr>
              <a:defRPr sz="1250" b="1">
                <a:solidFill>
                  <a:srgbClr val="F8FAFC"/>
                </a:solidFill>
                <a:latin typeface="Segoe UI"/>
              </a:defRPr>
            </a:pPr>
            <a:r>
              <a:t>Secure Streaming</a:t>
            </a:r>
          </a:p>
          <a:p>
            <a:pPr>
              <a:defRPr sz="1000">
                <a:solidFill>
                  <a:srgbClr val="94A3B8"/>
                </a:solidFill>
                <a:latin typeface="Segoe UI"/>
              </a:defRPr>
            </a:pPr>
            <a:r>
              <a:t>Preprocessed audio/image payload is streamed securely via TLS to Gemini Flash API.</a:t>
            </a:r>
          </a:p>
        </p:txBody>
      </p:sp>
      <p:sp>
        <p:nvSpPr>
          <p:cNvPr id="18" name="Rounded Rectangle 17"/>
          <p:cNvSpPr/>
          <p:nvPr/>
        </p:nvSpPr>
        <p:spPr>
          <a:xfrm>
            <a:off x="5120640" y="1737360"/>
            <a:ext cx="1965960" cy="411480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0" y="1737360"/>
            <a:ext cx="178308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1965960"/>
            <a:ext cx="1691640" cy="3657600"/>
          </a:xfrm>
          <a:prstGeom prst="rect">
            <a:avLst/>
          </a:prstGeom>
          <a:noFill/>
        </p:spPr>
        <p:txBody>
          <a:bodyPr wrap="square">
            <a:spAutoFit/>
          </a:bodyPr>
          <a:lstStyle/>
          <a:p>
            <a:pPr>
              <a:defRPr sz="1100" b="1">
                <a:solidFill>
                  <a:srgbClr val="B026FF"/>
                </a:solidFill>
                <a:latin typeface="Consolas"/>
              </a:defRPr>
            </a:pPr>
            <a:r>
              <a:t>Step 03</a:t>
            </a:r>
          </a:p>
          <a:p>
            <a:pPr>
              <a:defRPr sz="1250" b="1">
                <a:solidFill>
                  <a:srgbClr val="F8FAFC"/>
                </a:solidFill>
                <a:latin typeface="Segoe UI"/>
              </a:defRPr>
            </a:pPr>
            <a:r>
              <a:t>Schema Parsing</a:t>
            </a:r>
          </a:p>
          <a:p>
            <a:pPr>
              <a:defRPr sz="1000">
                <a:solidFill>
                  <a:srgbClr val="94A3B8"/>
                </a:solidFill>
                <a:latin typeface="Segoe UI"/>
              </a:defRPr>
            </a:pPr>
            <a:r>
              <a:t>Gemini LLM normalizes raw content into validated JSON line-items with tax computation.</a:t>
            </a:r>
          </a:p>
        </p:txBody>
      </p:sp>
      <p:sp>
        <p:nvSpPr>
          <p:cNvPr id="21" name="Rounded Rectangle 20"/>
          <p:cNvSpPr/>
          <p:nvPr/>
        </p:nvSpPr>
        <p:spPr>
          <a:xfrm>
            <a:off x="7315200" y="1737360"/>
            <a:ext cx="1965960" cy="411480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0" y="1737360"/>
            <a:ext cx="178308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1965960"/>
            <a:ext cx="1691640" cy="3657600"/>
          </a:xfrm>
          <a:prstGeom prst="rect">
            <a:avLst/>
          </a:prstGeom>
          <a:noFill/>
        </p:spPr>
        <p:txBody>
          <a:bodyPr wrap="square">
            <a:spAutoFit/>
          </a:bodyPr>
          <a:lstStyle/>
          <a:p>
            <a:pPr>
              <a:defRPr sz="1100" b="1">
                <a:solidFill>
                  <a:srgbClr val="00FF87"/>
                </a:solidFill>
                <a:latin typeface="Consolas"/>
              </a:defRPr>
            </a:pPr>
            <a:r>
              <a:t>Step 04</a:t>
            </a:r>
          </a:p>
          <a:p>
            <a:pPr>
              <a:defRPr sz="1250" b="1">
                <a:solidFill>
                  <a:srgbClr val="F8FAFC"/>
                </a:solidFill>
                <a:latin typeface="Segoe UI"/>
              </a:defRPr>
            </a:pPr>
            <a:r>
              <a:t>ACID Commit</a:t>
            </a:r>
          </a:p>
          <a:p>
            <a:pPr>
              <a:defRPr sz="1000">
                <a:solidFill>
                  <a:srgbClr val="94A3B8"/>
                </a:solidFill>
                <a:latin typeface="Segoe UI"/>
              </a:defRPr>
            </a:pPr>
            <a:r>
              <a:t>Transaction is committed atomically into SQLite ledger.db with running balance update.</a:t>
            </a:r>
          </a:p>
        </p:txBody>
      </p:sp>
      <p:sp>
        <p:nvSpPr>
          <p:cNvPr id="24" name="Rounded Rectangle 23"/>
          <p:cNvSpPr/>
          <p:nvPr/>
        </p:nvSpPr>
        <p:spPr>
          <a:xfrm>
            <a:off x="9509760" y="1737360"/>
            <a:ext cx="1965960" cy="4114800"/>
          </a:xfrm>
          <a:prstGeom prst="roundRect">
            <a:avLst/>
          </a:prstGeom>
          <a:solidFill>
            <a:srgbClr val="0A244E"/>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1200" y="1737360"/>
            <a:ext cx="1783080" cy="36576"/>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965960"/>
            <a:ext cx="1691640" cy="3657600"/>
          </a:xfrm>
          <a:prstGeom prst="rect">
            <a:avLst/>
          </a:prstGeom>
          <a:noFill/>
        </p:spPr>
        <p:txBody>
          <a:bodyPr wrap="square">
            <a:spAutoFit/>
          </a:bodyPr>
          <a:lstStyle/>
          <a:p>
            <a:pPr>
              <a:defRPr sz="1100" b="1">
                <a:solidFill>
                  <a:srgbClr val="FFAA00"/>
                </a:solidFill>
                <a:latin typeface="Consolas"/>
              </a:defRPr>
            </a:pPr>
            <a:r>
              <a:t>Step 05</a:t>
            </a:r>
          </a:p>
          <a:p>
            <a:pPr>
              <a:defRPr sz="1250" b="1">
                <a:solidFill>
                  <a:srgbClr val="F8FAFC"/>
                </a:solidFill>
                <a:latin typeface="Segoe UI"/>
              </a:defRPr>
            </a:pPr>
            <a:r>
              <a:t>Regional Audio</a:t>
            </a:r>
          </a:p>
          <a:p>
            <a:pPr>
              <a:defRPr sz="1000">
                <a:solidFill>
                  <a:srgbClr val="94A3B8"/>
                </a:solidFill>
                <a:latin typeface="Segoe UI"/>
              </a:defRPr>
            </a:pPr>
            <a:r>
              <a:t>Edge TTS synthesizes Marathi voice receipt while dashboard graphs update in real-time.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1E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402C0C"/>
          </a:solidFill>
          <a:ln w="127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A00"/>
                </a:solidFill>
                <a:latin typeface="Consolas"/>
              </a:defRPr>
            </a:pPr>
            <a:r>
              <a:t>// 11 • SPEED BENCHMARKS //</a:t>
            </a:r>
          </a:p>
        </p:txBody>
      </p:sp>
      <p:sp>
        <p:nvSpPr>
          <p:cNvPr id="6" name="Donut 5"/>
          <p:cNvSpPr/>
          <p:nvPr/>
        </p:nvSpPr>
        <p:spPr>
          <a:xfrm>
            <a:off x="4723790" y="1188720"/>
            <a:ext cx="2743200" cy="2743200"/>
          </a:xfrm>
          <a:prstGeom prst="donut">
            <a:avLst/>
          </a:prstGeom>
          <a:noFill/>
          <a:ln w="381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2286000"/>
            <a:ext cx="182880" cy="3200400"/>
          </a:xfrm>
          <a:prstGeom prst="round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612880" y="2286000"/>
            <a:ext cx="182880" cy="3200400"/>
          </a:xfrm>
          <a:prstGeom prst="round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65760"/>
            <a:ext cx="3291840" cy="320040"/>
          </a:xfrm>
          <a:prstGeom prst="roundRect">
            <a:avLst/>
          </a:prstGeom>
          <a:solidFill>
            <a:srgbClr val="402C0C"/>
          </a:solidFill>
          <a:ln w="1524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A00"/>
                </a:solidFill>
                <a:latin typeface="Consolas"/>
              </a:defRPr>
            </a:pPr>
            <a:r>
              <a:t>●  11 • EMPIRICAL EVALUATION</a:t>
            </a:r>
          </a:p>
        </p:txBody>
      </p:sp>
      <p:sp>
        <p:nvSpPr>
          <p:cNvPr id="10" name="TextBox 9"/>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Performance Analysis</a:t>
            </a:r>
          </a:p>
          <a:p>
            <a:pPr>
              <a:defRPr sz="1100">
                <a:solidFill>
                  <a:srgbClr val="00FF87"/>
                </a:solidFill>
                <a:latin typeface="Segoe UI"/>
              </a:defRPr>
            </a:pPr>
            <a:r>
              <a:t>Rigorous Quantitative Benchmarks Demonstrating Disruptive Efficiency</a:t>
            </a:r>
          </a:p>
        </p:txBody>
      </p:sp>
      <p:sp>
        <p:nvSpPr>
          <p:cNvPr id="11" name="Rectangle 10"/>
          <p:cNvSpPr/>
          <p:nvPr/>
        </p:nvSpPr>
        <p:spPr>
          <a:xfrm>
            <a:off x="731520" y="6309360"/>
            <a:ext cx="10728655"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3" name="TextBox 12"/>
          <p:cNvSpPr txBox="1"/>
          <p:nvPr/>
        </p:nvSpPr>
        <p:spPr>
          <a:xfrm>
            <a:off x="9601200" y="6355080"/>
            <a:ext cx="1828800" cy="365760"/>
          </a:xfrm>
          <a:prstGeom prst="rect">
            <a:avLst/>
          </a:prstGeom>
          <a:noFill/>
        </p:spPr>
        <p:txBody>
          <a:bodyPr wrap="none">
            <a:spAutoFit/>
          </a:bodyPr>
          <a:lstStyle/>
          <a:p>
            <a:pPr algn="r">
              <a:defRPr sz="900" b="1">
                <a:solidFill>
                  <a:srgbClr val="FFAA00"/>
                </a:solidFill>
                <a:latin typeface="Consolas"/>
              </a:defRPr>
            </a:pPr>
            <a:r>
              <a:t>11 / 23</a:t>
            </a:r>
          </a:p>
        </p:txBody>
      </p:sp>
      <p:sp>
        <p:nvSpPr>
          <p:cNvPr id="14" name="Rounded Rectangle 13"/>
          <p:cNvSpPr/>
          <p:nvPr/>
        </p:nvSpPr>
        <p:spPr>
          <a:xfrm>
            <a:off x="731520" y="1737360"/>
            <a:ext cx="3328416" cy="4114800"/>
          </a:xfrm>
          <a:prstGeom prst="roundRect">
            <a:avLst/>
          </a:prstGeom>
          <a:solidFill>
            <a:srgbClr val="402C0C"/>
          </a:solidFill>
          <a:ln w="1524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737360"/>
            <a:ext cx="3145536"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103120"/>
            <a:ext cx="2962656" cy="3383280"/>
          </a:xfrm>
          <a:prstGeom prst="rect">
            <a:avLst/>
          </a:prstGeom>
          <a:noFill/>
        </p:spPr>
        <p:txBody>
          <a:bodyPr wrap="square">
            <a:spAutoFit/>
          </a:bodyPr>
          <a:lstStyle/>
          <a:p>
            <a:pPr algn="ctr">
              <a:defRPr sz="4400" b="1">
                <a:solidFill>
                  <a:srgbClr val="00F2FE"/>
                </a:solidFill>
                <a:latin typeface="Segoe UI"/>
              </a:defRPr>
            </a:pPr>
            <a:r>
              <a:t>96%</a:t>
            </a:r>
          </a:p>
          <a:p>
            <a:pPr algn="ctr">
              <a:defRPr sz="1300" b="1">
                <a:solidFill>
                  <a:srgbClr val="F8FAFC"/>
                </a:solidFill>
                <a:latin typeface="Segoe UI"/>
              </a:defRPr>
            </a:pPr>
            <a:r>
              <a:t>Data Entry Time Reduction</a:t>
            </a:r>
          </a:p>
          <a:p>
            <a:br/>
            <a:pPr algn="ctr">
              <a:defRPr sz="1050">
                <a:solidFill>
                  <a:srgbClr val="94A3B8"/>
                </a:solidFill>
                <a:latin typeface="Segoe UI"/>
              </a:defRPr>
            </a:pPr>
            <a:r>
              <a:t>Average transaction recording time slashed from 120s (manual pen-and-paper writing) down to 4.5s via Gemini AI OCR and Voice Billing.</a:t>
            </a:r>
          </a:p>
        </p:txBody>
      </p:sp>
      <p:sp>
        <p:nvSpPr>
          <p:cNvPr id="17" name="Rounded Rectangle 16"/>
          <p:cNvSpPr/>
          <p:nvPr/>
        </p:nvSpPr>
        <p:spPr>
          <a:xfrm>
            <a:off x="4389120" y="1737360"/>
            <a:ext cx="3328416" cy="4114800"/>
          </a:xfrm>
          <a:prstGeom prst="roundRect">
            <a:avLst/>
          </a:prstGeom>
          <a:solidFill>
            <a:srgbClr val="402C0C"/>
          </a:solidFill>
          <a:ln w="1524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737360"/>
            <a:ext cx="3145536"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103120"/>
            <a:ext cx="2962656" cy="3383280"/>
          </a:xfrm>
          <a:prstGeom prst="rect">
            <a:avLst/>
          </a:prstGeom>
          <a:noFill/>
        </p:spPr>
        <p:txBody>
          <a:bodyPr wrap="square">
            <a:spAutoFit/>
          </a:bodyPr>
          <a:lstStyle/>
          <a:p>
            <a:pPr algn="ctr">
              <a:defRPr sz="4400" b="1">
                <a:solidFill>
                  <a:srgbClr val="00FF87"/>
                </a:solidFill>
                <a:latin typeface="Segoe UI"/>
              </a:defRPr>
            </a:pPr>
            <a:r>
              <a:t>&gt;95%</a:t>
            </a:r>
          </a:p>
          <a:p>
            <a:pPr algn="ctr">
              <a:defRPr sz="1300" b="1">
                <a:solidFill>
                  <a:srgbClr val="F8FAFC"/>
                </a:solidFill>
                <a:latin typeface="Segoe UI"/>
              </a:defRPr>
            </a:pPr>
            <a:r>
              <a:t>Regional Parsing Accuracy</a:t>
            </a:r>
          </a:p>
          <a:p>
            <a:br/>
            <a:pPr algn="ctr">
              <a:defRPr sz="1050">
                <a:solidFill>
                  <a:srgbClr val="94A3B8"/>
                </a:solidFill>
                <a:latin typeface="Segoe UI"/>
              </a:defRPr>
            </a:pPr>
            <a:r>
              <a:t>Parsing precision evaluated across handwritten, crumpled, and printed Devanagari bills with Marathi and Hindi item names.</a:t>
            </a:r>
          </a:p>
        </p:txBody>
      </p:sp>
      <p:sp>
        <p:nvSpPr>
          <p:cNvPr id="20" name="Rounded Rectangle 19"/>
          <p:cNvSpPr/>
          <p:nvPr/>
        </p:nvSpPr>
        <p:spPr>
          <a:xfrm>
            <a:off x="8046720" y="1737360"/>
            <a:ext cx="3328416" cy="4114800"/>
          </a:xfrm>
          <a:prstGeom prst="roundRect">
            <a:avLst/>
          </a:prstGeom>
          <a:solidFill>
            <a:srgbClr val="402C0C"/>
          </a:solidFill>
          <a:ln w="1524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737360"/>
            <a:ext cx="3145536"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103120"/>
            <a:ext cx="2962656" cy="3383280"/>
          </a:xfrm>
          <a:prstGeom prst="rect">
            <a:avLst/>
          </a:prstGeom>
          <a:noFill/>
        </p:spPr>
        <p:txBody>
          <a:bodyPr wrap="square">
            <a:spAutoFit/>
          </a:bodyPr>
          <a:lstStyle/>
          <a:p>
            <a:pPr algn="ctr">
              <a:defRPr sz="4400" b="1">
                <a:solidFill>
                  <a:srgbClr val="B026FF"/>
                </a:solidFill>
                <a:latin typeface="Segoe UI"/>
              </a:defRPr>
            </a:pPr>
            <a:r>
              <a:t>&lt;2ms</a:t>
            </a:r>
          </a:p>
          <a:p>
            <a:pPr algn="ctr">
              <a:defRPr sz="1300" b="1">
                <a:solidFill>
                  <a:srgbClr val="F8FAFC"/>
                </a:solidFill>
                <a:latin typeface="Segoe UI"/>
              </a:defRPr>
            </a:pPr>
            <a:r>
              <a:t>SQLite ACID Commit Latency</a:t>
            </a:r>
          </a:p>
          <a:p>
            <a:br/>
            <a:pPr algn="ctr">
              <a:defRPr sz="1050">
                <a:solidFill>
                  <a:srgbClr val="94A3B8"/>
                </a:solidFill>
                <a:latin typeface="Segoe UI"/>
              </a:defRPr>
            </a:pPr>
            <a:r>
              <a:t>Sub-2ms local transactional commit latency enabled by Write-Ahead Logging (WAL) and optimized indexing, guaranteeing zero UI freeze.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C244A"/>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12 • RESULT 01: AUTH PORTAL //</a:t>
            </a:r>
          </a:p>
        </p:txBody>
      </p:sp>
      <p:sp>
        <p:nvSpPr>
          <p:cNvPr id="6" name="Hexagon 5"/>
          <p:cNvSpPr/>
          <p:nvPr/>
        </p:nvSpPr>
        <p:spPr>
          <a:xfrm>
            <a:off x="274320" y="2560320"/>
            <a:ext cx="457200" cy="548640"/>
          </a:xfrm>
          <a:prstGeom prst="hexagon">
            <a:avLst/>
          </a:prstGeom>
          <a:solidFill>
            <a:srgbClr val="0C244A"/>
          </a:solidFill>
          <a:ln w="317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365760"/>
            <a:ext cx="3291840" cy="320040"/>
          </a:xfrm>
          <a:prstGeom prst="roundRect">
            <a:avLst/>
          </a:prstGeom>
          <a:solidFill>
            <a:srgbClr val="0C244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2FE"/>
                </a:solidFill>
                <a:latin typeface="Consolas"/>
              </a:defRPr>
            </a:pPr>
            <a:r>
              <a:t>●  12 • LIVE SYSTEM SHOWCASE</a:t>
            </a:r>
          </a:p>
        </p:txBody>
      </p:sp>
      <p:sp>
        <p:nvSpPr>
          <p:cNvPr id="8" name="TextBox 7"/>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1: Secure Login Portal</a:t>
            </a:r>
          </a:p>
          <a:p>
            <a:pPr>
              <a:defRPr sz="1100">
                <a:solidFill>
                  <a:srgbClr val="B026FF"/>
                </a:solidFill>
                <a:latin typeface="Segoe UI"/>
              </a:defRPr>
            </a:pPr>
            <a:r>
              <a:t>Cryptographically Fortified Authentication &amp; Role-Based Access Control</a:t>
            </a:r>
          </a:p>
        </p:txBody>
      </p:sp>
      <p:sp>
        <p:nvSpPr>
          <p:cNvPr id="9" name="Rectangle 8"/>
          <p:cNvSpPr/>
          <p:nvPr/>
        </p:nvSpPr>
        <p:spPr>
          <a:xfrm>
            <a:off x="731520" y="6309360"/>
            <a:ext cx="10728655" cy="18288"/>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1" name="TextBox 10"/>
          <p:cNvSpPr txBox="1"/>
          <p:nvPr/>
        </p:nvSpPr>
        <p:spPr>
          <a:xfrm>
            <a:off x="9601200" y="6355080"/>
            <a:ext cx="1828800" cy="365760"/>
          </a:xfrm>
          <a:prstGeom prst="rect">
            <a:avLst/>
          </a:prstGeom>
          <a:noFill/>
        </p:spPr>
        <p:txBody>
          <a:bodyPr wrap="none">
            <a:spAutoFit/>
          </a:bodyPr>
          <a:lstStyle/>
          <a:p>
            <a:pPr algn="r">
              <a:defRPr sz="900" b="1">
                <a:solidFill>
                  <a:srgbClr val="00F2FE"/>
                </a:solidFill>
                <a:latin typeface="Consolas"/>
              </a:defRPr>
            </a:pPr>
            <a:r>
              <a:t>12 / 23</a:t>
            </a:r>
          </a:p>
        </p:txBody>
      </p:sp>
      <p:sp>
        <p:nvSpPr>
          <p:cNvPr id="12" name="Rounded Rectangle 11"/>
          <p:cNvSpPr/>
          <p:nvPr/>
        </p:nvSpPr>
        <p:spPr>
          <a:xfrm>
            <a:off x="731520" y="1737360"/>
            <a:ext cx="5120640" cy="4114800"/>
          </a:xfrm>
          <a:prstGeom prst="roundRect">
            <a:avLst/>
          </a:prstGeom>
          <a:solidFill>
            <a:srgbClr val="0C244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1828800"/>
            <a:ext cx="4754880" cy="3931920"/>
          </a:xfrm>
          <a:prstGeom prst="rect">
            <a:avLst/>
          </a:prstGeom>
          <a:noFill/>
        </p:spPr>
        <p:txBody>
          <a:bodyPr wrap="square">
            <a:spAutoFit/>
          </a:bodyPr>
          <a:lstStyle/>
          <a:p>
            <a:pPr>
              <a:defRPr sz="1150" b="1">
                <a:solidFill>
                  <a:srgbClr val="00F2FE"/>
                </a:solidFill>
                <a:latin typeface="Segoe UI"/>
              </a:defRPr>
            </a:pPr>
            <a:r>
              <a:t>🔐 PBKDF2-SHA256 Cryptography</a:t>
            </a:r>
          </a:p>
          <a:p>
            <a:pPr>
              <a:defRPr sz="950">
                <a:solidFill>
                  <a:srgbClr val="94A3B8"/>
                </a:solidFill>
                <a:latin typeface="Segoe UI"/>
              </a:defRPr>
            </a:pPr>
            <a:r>
              <a:t>Passwords secured using key stretching and 100,000 hashing iterations with unique salts.</a:t>
            </a:r>
          </a:p>
          <a:p>
            <a:pPr>
              <a:defRPr sz="1150" b="1">
                <a:solidFill>
                  <a:srgbClr val="B026FF"/>
                </a:solidFill>
                <a:latin typeface="Segoe UI"/>
              </a:defRPr>
            </a:pPr>
            <a:r>
              <a:t>🛡️ Role-Based Access Control (RBAC)</a:t>
            </a:r>
          </a:p>
          <a:p>
            <a:pPr>
              <a:defRPr sz="950">
                <a:solidFill>
                  <a:srgbClr val="94A3B8"/>
                </a:solidFill>
                <a:latin typeface="Segoe UI"/>
              </a:defRPr>
            </a:pPr>
            <a:r>
              <a:t>Strict privilege demarcation between Admin master access and restricted Staff accounts.</a:t>
            </a:r>
          </a:p>
          <a:p>
            <a:pPr>
              <a:defRPr sz="1150" b="1">
                <a:solidFill>
                  <a:srgbClr val="00FF87"/>
                </a:solidFill>
                <a:latin typeface="Segoe UI"/>
              </a:defRPr>
            </a:pPr>
            <a:r>
              <a:t>🔄 Persistent Session State</a:t>
            </a:r>
          </a:p>
          <a:p>
            <a:pPr>
              <a:defRPr sz="950">
                <a:solidFill>
                  <a:srgbClr val="94A3B8"/>
                </a:solidFill>
                <a:latin typeface="Segoe UI"/>
              </a:defRPr>
            </a:pPr>
            <a:r>
              <a:t>Secure local session state management for frictionless auto-login and session persistence.</a:t>
            </a:r>
          </a:p>
          <a:p>
            <a:pPr>
              <a:defRPr sz="1150" b="1">
                <a:solidFill>
                  <a:srgbClr val="4FACFE"/>
                </a:solidFill>
                <a:latin typeface="Segoe UI"/>
              </a:defRPr>
            </a:pPr>
            <a:r>
              <a:t>💎 Glassmorphic Cyberpunk Interface</a:t>
            </a:r>
          </a:p>
          <a:p>
            <a:pPr>
              <a:defRPr sz="950">
                <a:solidFill>
                  <a:srgbClr val="94A3B8"/>
                </a:solidFill>
                <a:latin typeface="Segoe UI"/>
              </a:defRPr>
            </a:pPr>
            <a:r>
              <a:t>Modern dark aesthetics with animated background effects and glowing interactive inputs.</a:t>
            </a:r>
          </a:p>
        </p:txBody>
      </p:sp>
      <p:sp>
        <p:nvSpPr>
          <p:cNvPr id="15" name="Rounded Rectangle 14"/>
          <p:cNvSpPr/>
          <p:nvPr/>
        </p:nvSpPr>
        <p:spPr>
          <a:xfrm>
            <a:off x="6217920" y="1737360"/>
            <a:ext cx="5242255" cy="4114800"/>
          </a:xfrm>
          <a:prstGeom prst="roundRect">
            <a:avLst/>
          </a:prstGeom>
          <a:solidFill>
            <a:srgbClr val="0C244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gin.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4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63220"/>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13 • RESULT 02: MULTIMODAL OCR //</a:t>
            </a:r>
          </a:p>
        </p:txBody>
      </p:sp>
      <p:sp>
        <p:nvSpPr>
          <p:cNvPr id="6" name="Rectangle 5"/>
          <p:cNvSpPr/>
          <p:nvPr/>
        </p:nvSpPr>
        <p:spPr>
          <a:xfrm>
            <a:off x="731520" y="1508760"/>
            <a:ext cx="10728655" cy="45720"/>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74320" y="3840480"/>
            <a:ext cx="73152" cy="548640"/>
          </a:xfrm>
          <a:prstGeom prst="round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3611880"/>
            <a:ext cx="73152" cy="1005840"/>
          </a:xfrm>
          <a:prstGeom prst="round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 y="3383280"/>
            <a:ext cx="73152" cy="1463040"/>
          </a:xfrm>
          <a:prstGeom prst="round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3504" y="3703320"/>
            <a:ext cx="73152" cy="822960"/>
          </a:xfrm>
          <a:prstGeom prst="round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65760"/>
            <a:ext cx="3291840" cy="320040"/>
          </a:xfrm>
          <a:prstGeom prst="roundRect">
            <a:avLst/>
          </a:prstGeom>
          <a:solidFill>
            <a:srgbClr val="063220"/>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13 • LIVE SYSTEM SHOWCASE</a:t>
            </a:r>
          </a:p>
        </p:txBody>
      </p:sp>
      <p:sp>
        <p:nvSpPr>
          <p:cNvPr id="12" name="TextBox 11"/>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2: OCR &amp; Voice Billing Module</a:t>
            </a:r>
          </a:p>
          <a:p>
            <a:pPr>
              <a:defRPr sz="1100">
                <a:solidFill>
                  <a:srgbClr val="00F2FE"/>
                </a:solidFill>
                <a:latin typeface="Segoe UI"/>
              </a:defRPr>
            </a:pPr>
            <a:r>
              <a:t>Multimodal Bill Capture with Real-Time Audio Feedback &amp; In-Line Editing</a:t>
            </a:r>
          </a:p>
        </p:txBody>
      </p:sp>
      <p:sp>
        <p:nvSpPr>
          <p:cNvPr id="13" name="Rectangle 12"/>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5" name="TextBox 14"/>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13 / 23</a:t>
            </a:r>
          </a:p>
        </p:txBody>
      </p:sp>
      <p:sp>
        <p:nvSpPr>
          <p:cNvPr id="16" name="Rounded Rectangle 15"/>
          <p:cNvSpPr/>
          <p:nvPr/>
        </p:nvSpPr>
        <p:spPr>
          <a:xfrm>
            <a:off x="731520" y="1737360"/>
            <a:ext cx="5120640" cy="4114800"/>
          </a:xfrm>
          <a:prstGeom prst="roundRect">
            <a:avLst/>
          </a:prstGeom>
          <a:solidFill>
            <a:srgbClr val="063220"/>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1828800"/>
            <a:ext cx="4754880" cy="3931920"/>
          </a:xfrm>
          <a:prstGeom prst="rect">
            <a:avLst/>
          </a:prstGeom>
          <a:noFill/>
        </p:spPr>
        <p:txBody>
          <a:bodyPr wrap="square">
            <a:spAutoFit/>
          </a:bodyPr>
          <a:lstStyle/>
          <a:p>
            <a:pPr>
              <a:defRPr sz="1150" b="1">
                <a:solidFill>
                  <a:srgbClr val="00FF87"/>
                </a:solidFill>
                <a:latin typeface="Segoe UI"/>
              </a:defRPr>
            </a:pPr>
            <a:r>
              <a:t>📸 Tri-Mode Bill Capture</a:t>
            </a:r>
          </a:p>
          <a:p>
            <a:pPr>
              <a:defRPr sz="950">
                <a:solidFill>
                  <a:srgbClr val="94A3B8"/>
                </a:solidFill>
                <a:latin typeface="Segoe UI"/>
              </a:defRPr>
            </a:pPr>
            <a:r>
              <a:t>Live camera scan, file upload, or spontaneous vernacular voice recording.</a:t>
            </a:r>
          </a:p>
          <a:p>
            <a:pPr>
              <a:defRPr sz="1150" b="1">
                <a:solidFill>
                  <a:srgbClr val="00F2FE"/>
                </a:solidFill>
                <a:latin typeface="Segoe UI"/>
              </a:defRPr>
            </a:pPr>
            <a:r>
              <a:t>⚠️ Duplicate Bill Prevention</a:t>
            </a:r>
          </a:p>
          <a:p>
            <a:pPr>
              <a:defRPr sz="950">
                <a:solidFill>
                  <a:srgbClr val="94A3B8"/>
                </a:solidFill>
                <a:latin typeface="Segoe UI"/>
              </a:defRPr>
            </a:pPr>
            <a:r>
              <a:t>MD5 content hashing detects previously submitted bills to eliminate double charges.</a:t>
            </a:r>
          </a:p>
          <a:p>
            <a:pPr>
              <a:defRPr sz="1150" b="1">
                <a:solidFill>
                  <a:srgbClr val="B026FF"/>
                </a:solidFill>
                <a:latin typeface="Segoe UI"/>
              </a:defRPr>
            </a:pPr>
            <a:r>
              <a:t>🔊 Marathi Neural Audio Confirmation</a:t>
            </a:r>
          </a:p>
          <a:p>
            <a:pPr>
              <a:defRPr sz="950">
                <a:solidFill>
                  <a:srgbClr val="94A3B8"/>
                </a:solidFill>
                <a:latin typeface="Segoe UI"/>
              </a:defRPr>
            </a:pPr>
            <a:r>
              <a:t>Instant Edge TTS audio feedback in Marathi ('बिल यशस्वीरीत्या जोडले गेले').</a:t>
            </a:r>
          </a:p>
          <a:p>
            <a:pPr>
              <a:defRPr sz="1150" b="1">
                <a:solidFill>
                  <a:srgbClr val="FF0055"/>
                </a:solidFill>
                <a:latin typeface="Segoe UI"/>
              </a:defRPr>
            </a:pPr>
            <a:r>
              <a:t>✏️ In-Line Editable Data Preview</a:t>
            </a:r>
          </a:p>
          <a:p>
            <a:pPr>
              <a:defRPr sz="950">
                <a:solidFill>
                  <a:srgbClr val="94A3B8"/>
                </a:solidFill>
                <a:latin typeface="Segoe UI"/>
              </a:defRPr>
            </a:pPr>
            <a:r>
              <a:t>Interactive data grid enables real-time verification and correction of extracted quantities.</a:t>
            </a:r>
          </a:p>
        </p:txBody>
      </p:sp>
      <p:sp>
        <p:nvSpPr>
          <p:cNvPr id="19" name="Rounded Rectangle 18"/>
          <p:cNvSpPr/>
          <p:nvPr/>
        </p:nvSpPr>
        <p:spPr>
          <a:xfrm>
            <a:off x="6217920" y="1737360"/>
            <a:ext cx="5242255" cy="4114800"/>
          </a:xfrm>
          <a:prstGeom prst="roundRect">
            <a:avLst/>
          </a:prstGeom>
          <a:solidFill>
            <a:srgbClr val="063220"/>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ocr.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82C46"/>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14 • RESULT 03: BI ANALYTICS //</a:t>
            </a:r>
          </a:p>
        </p:txBody>
      </p:sp>
      <p:sp>
        <p:nvSpPr>
          <p:cNvPr id="6" name="Rectangle 5"/>
          <p:cNvSpPr/>
          <p:nvPr/>
        </p:nvSpPr>
        <p:spPr>
          <a:xfrm>
            <a:off x="731520" y="1508760"/>
            <a:ext cx="10728655"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365760"/>
            <a:ext cx="3291840" cy="320040"/>
          </a:xfrm>
          <a:prstGeom prst="roundRect">
            <a:avLst/>
          </a:prstGeom>
          <a:solidFill>
            <a:srgbClr val="082C4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2FE"/>
                </a:solidFill>
                <a:latin typeface="Consolas"/>
              </a:defRPr>
            </a:pPr>
            <a:r>
              <a:t>●  14 • LIVE SYSTEM SHOWCASE</a:t>
            </a:r>
          </a:p>
        </p:txBody>
      </p:sp>
      <p:sp>
        <p:nvSpPr>
          <p:cNvPr id="8" name="TextBox 7"/>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3: Merchant Analytics Hub</a:t>
            </a:r>
          </a:p>
          <a:p>
            <a:pPr>
              <a:defRPr sz="1100">
                <a:solidFill>
                  <a:srgbClr val="00FF87"/>
                </a:solidFill>
                <a:latin typeface="Segoe UI"/>
              </a:defRPr>
            </a:pPr>
            <a:r>
              <a:t>Interactive Business Intelligence with Dynamic Vector Visualizations</a:t>
            </a:r>
          </a:p>
        </p:txBody>
      </p:sp>
      <p:sp>
        <p:nvSpPr>
          <p:cNvPr id="9" name="Rectangle 8"/>
          <p:cNvSpPr/>
          <p:nvPr/>
        </p:nvSpPr>
        <p:spPr>
          <a:xfrm>
            <a:off x="731520" y="6309360"/>
            <a:ext cx="10728655" cy="18288"/>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1" name="TextBox 10"/>
          <p:cNvSpPr txBox="1"/>
          <p:nvPr/>
        </p:nvSpPr>
        <p:spPr>
          <a:xfrm>
            <a:off x="9601200" y="6355080"/>
            <a:ext cx="1828800" cy="365760"/>
          </a:xfrm>
          <a:prstGeom prst="rect">
            <a:avLst/>
          </a:prstGeom>
          <a:noFill/>
        </p:spPr>
        <p:txBody>
          <a:bodyPr wrap="none">
            <a:spAutoFit/>
          </a:bodyPr>
          <a:lstStyle/>
          <a:p>
            <a:pPr algn="r">
              <a:defRPr sz="900" b="1">
                <a:solidFill>
                  <a:srgbClr val="00F2FE"/>
                </a:solidFill>
                <a:latin typeface="Consolas"/>
              </a:defRPr>
            </a:pPr>
            <a:r>
              <a:t>14 / 23</a:t>
            </a:r>
          </a:p>
        </p:txBody>
      </p:sp>
      <p:sp>
        <p:nvSpPr>
          <p:cNvPr id="12" name="Rounded Rectangle 11"/>
          <p:cNvSpPr/>
          <p:nvPr/>
        </p:nvSpPr>
        <p:spPr>
          <a:xfrm>
            <a:off x="731520" y="1737360"/>
            <a:ext cx="5120640" cy="4114800"/>
          </a:xfrm>
          <a:prstGeom prst="roundRect">
            <a:avLst/>
          </a:prstGeom>
          <a:solidFill>
            <a:srgbClr val="082C4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1828800"/>
            <a:ext cx="4754880" cy="3931920"/>
          </a:xfrm>
          <a:prstGeom prst="rect">
            <a:avLst/>
          </a:prstGeom>
          <a:noFill/>
        </p:spPr>
        <p:txBody>
          <a:bodyPr wrap="square">
            <a:spAutoFit/>
          </a:bodyPr>
          <a:lstStyle/>
          <a:p>
            <a:pPr>
              <a:defRPr sz="1150" b="1">
                <a:solidFill>
                  <a:srgbClr val="00F2FE"/>
                </a:solidFill>
                <a:latin typeface="Segoe UI"/>
              </a:defRPr>
            </a:pPr>
            <a:r>
              <a:t>📈 Real-Time Revenue KPI Cards</a:t>
            </a:r>
          </a:p>
          <a:p>
            <a:pPr>
              <a:defRPr sz="950">
                <a:solidFill>
                  <a:srgbClr val="94A3B8"/>
                </a:solidFill>
                <a:latin typeface="Segoe UI"/>
              </a:defRPr>
            </a:pPr>
            <a:r>
              <a:t>Live tracking of Gross Sales, Transaction Counts, and Average Ticket Sizes.</a:t>
            </a:r>
          </a:p>
          <a:p>
            <a:pPr>
              <a:defRPr sz="1150" b="1">
                <a:solidFill>
                  <a:srgbClr val="00FF87"/>
                </a:solidFill>
                <a:latin typeface="Segoe UI"/>
              </a:defRPr>
            </a:pPr>
            <a:r>
              <a:t>🥧 Plotly Category Breakdown</a:t>
            </a:r>
          </a:p>
          <a:p>
            <a:pPr>
              <a:defRPr sz="950">
                <a:solidFill>
                  <a:srgbClr val="94A3B8"/>
                </a:solidFill>
                <a:latin typeface="Segoe UI"/>
              </a:defRPr>
            </a:pPr>
            <a:r>
              <a:t>Interactive vector pie charts and bars showing top revenue-generating items.</a:t>
            </a:r>
          </a:p>
          <a:p>
            <a:pPr>
              <a:defRPr sz="1150" b="1">
                <a:solidFill>
                  <a:srgbClr val="B026FF"/>
                </a:solidFill>
                <a:latin typeface="Segoe UI"/>
              </a:defRPr>
            </a:pPr>
            <a:r>
              <a:t>📅 Granular Timeframe Filtering</a:t>
            </a:r>
          </a:p>
          <a:p>
            <a:pPr>
              <a:defRPr sz="950">
                <a:solidFill>
                  <a:srgbClr val="94A3B8"/>
                </a:solidFill>
                <a:latin typeface="Segoe UI"/>
              </a:defRPr>
            </a:pPr>
            <a:r>
              <a:t>Toggle between Today, Last 7 Days, Month-to-Date, and Custom Date Ranges.</a:t>
            </a:r>
          </a:p>
          <a:p>
            <a:pPr>
              <a:defRPr sz="1150" b="1">
                <a:solidFill>
                  <a:srgbClr val="4FACFE"/>
                </a:solidFill>
                <a:latin typeface="Segoe UI"/>
              </a:defRPr>
            </a:pPr>
            <a:r>
              <a:t>⚡ High-Speed Vectorized Computation</a:t>
            </a:r>
          </a:p>
          <a:p>
            <a:pPr>
              <a:defRPr sz="950">
                <a:solidFill>
                  <a:srgbClr val="94A3B8"/>
                </a:solidFill>
                <a:latin typeface="Segoe UI"/>
              </a:defRPr>
            </a:pPr>
            <a:r>
              <a:t>Pandas in-memory aggregations delivering sub-second visual refreshes.</a:t>
            </a:r>
          </a:p>
        </p:txBody>
      </p:sp>
      <p:sp>
        <p:nvSpPr>
          <p:cNvPr id="15" name="Rounded Rectangle 14"/>
          <p:cNvSpPr/>
          <p:nvPr/>
        </p:nvSpPr>
        <p:spPr>
          <a:xfrm>
            <a:off x="6217920" y="1737360"/>
            <a:ext cx="5242255" cy="4114800"/>
          </a:xfrm>
          <a:prstGeom prst="roundRect">
            <a:avLst/>
          </a:prstGeom>
          <a:solidFill>
            <a:srgbClr val="082C4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nalytics.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2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8321C"/>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15 • RESULT 04: KHATA LEDGER //</a:t>
            </a:r>
          </a:p>
        </p:txBody>
      </p:sp>
      <p:sp>
        <p:nvSpPr>
          <p:cNvPr id="6" name="Donut 5"/>
          <p:cNvSpPr/>
          <p:nvPr/>
        </p:nvSpPr>
        <p:spPr>
          <a:xfrm>
            <a:off x="274320" y="2560320"/>
            <a:ext cx="365760" cy="365760"/>
          </a:xfrm>
          <a:prstGeom prst="donut">
            <a:avLst/>
          </a:prstGeom>
          <a:noFill/>
          <a:ln w="254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nut 6"/>
          <p:cNvSpPr/>
          <p:nvPr/>
        </p:nvSpPr>
        <p:spPr>
          <a:xfrm>
            <a:off x="11612880" y="2560320"/>
            <a:ext cx="365760" cy="365760"/>
          </a:xfrm>
          <a:prstGeom prst="donut">
            <a:avLst/>
          </a:prstGeom>
          <a:noFill/>
          <a:ln w="254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0832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15 • LIVE SYSTEM SHOWCASE</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4: Customer Khata (Udhari)</a:t>
            </a:r>
          </a:p>
          <a:p>
            <a:pPr>
              <a:defRPr sz="1100">
                <a:solidFill>
                  <a:srgbClr val="FFAA00"/>
                </a:solidFill>
                <a:latin typeface="Segoe UI"/>
              </a:defRPr>
            </a:pPr>
            <a:r>
              <a:t>Digital Credit Ledger with Automated WhatsApp Follow-Up &amp; Risk Scoring</a:t>
            </a:r>
          </a:p>
        </p:txBody>
      </p:sp>
      <p:sp>
        <p:nvSpPr>
          <p:cNvPr id="10" name="Rectangle 9"/>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15 / 23</a:t>
            </a:r>
          </a:p>
        </p:txBody>
      </p:sp>
      <p:sp>
        <p:nvSpPr>
          <p:cNvPr id="13" name="Rounded Rectangle 12"/>
          <p:cNvSpPr/>
          <p:nvPr/>
        </p:nvSpPr>
        <p:spPr>
          <a:xfrm>
            <a:off x="731520" y="1737360"/>
            <a:ext cx="5120640" cy="4114800"/>
          </a:xfrm>
          <a:prstGeom prst="roundRect">
            <a:avLst/>
          </a:prstGeom>
          <a:solidFill>
            <a:srgbClr val="0832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828800"/>
            <a:ext cx="4754880" cy="3931920"/>
          </a:xfrm>
          <a:prstGeom prst="rect">
            <a:avLst/>
          </a:prstGeom>
          <a:noFill/>
        </p:spPr>
        <p:txBody>
          <a:bodyPr wrap="square">
            <a:spAutoFit/>
          </a:bodyPr>
          <a:lstStyle/>
          <a:p>
            <a:pPr>
              <a:defRPr sz="1150" b="1">
                <a:solidFill>
                  <a:srgbClr val="B026FF"/>
                </a:solidFill>
                <a:latin typeface="Segoe UI"/>
              </a:defRPr>
            </a:pPr>
            <a:r>
              <a:t>📘 Digital Credit Ledger</a:t>
            </a:r>
          </a:p>
          <a:p>
            <a:pPr>
              <a:defRPr sz="950">
                <a:solidFill>
                  <a:srgbClr val="94A3B8"/>
                </a:solidFill>
                <a:latin typeface="Segoe UI"/>
              </a:defRPr>
            </a:pPr>
            <a:r>
              <a:t>Instant toggle between Given Credit (उधारी दिली) and Payment Received (जमा).</a:t>
            </a:r>
          </a:p>
          <a:p>
            <a:pPr>
              <a:defRPr sz="1150" b="1">
                <a:solidFill>
                  <a:srgbClr val="FF0055"/>
                </a:solidFill>
                <a:latin typeface="Segoe UI"/>
              </a:defRPr>
            </a:pPr>
            <a:r>
              <a:t>⏰ Due-Date &amp; Delinquency Alerts</a:t>
            </a:r>
          </a:p>
          <a:p>
            <a:pPr>
              <a:defRPr sz="950">
                <a:solidFill>
                  <a:srgbClr val="94A3B8"/>
                </a:solidFill>
                <a:latin typeface="Segoe UI"/>
              </a:defRPr>
            </a:pPr>
            <a:r>
              <a:t>Visual color badges flag accounts pending beyond 30/60 days to prevent bad debts.</a:t>
            </a:r>
          </a:p>
          <a:p>
            <a:pPr>
              <a:defRPr sz="1150" b="1">
                <a:solidFill>
                  <a:srgbClr val="00FF87"/>
                </a:solidFill>
                <a:latin typeface="Segoe UI"/>
              </a:defRPr>
            </a:pPr>
            <a:r>
              <a:t>💬 1-Click WhatsApp Payment Links</a:t>
            </a:r>
          </a:p>
          <a:p>
            <a:pPr>
              <a:defRPr sz="950">
                <a:solidFill>
                  <a:srgbClr val="94A3B8"/>
                </a:solidFill>
                <a:latin typeface="Segoe UI"/>
              </a:defRPr>
            </a:pPr>
            <a:r>
              <a:t>Auto-generates localized Marathi payment reminder messages with 1-click WhatsApp delivery.</a:t>
            </a:r>
          </a:p>
          <a:p>
            <a:pPr>
              <a:defRPr sz="1150" b="1">
                <a:solidFill>
                  <a:srgbClr val="00F2FE"/>
                </a:solidFill>
                <a:latin typeface="Segoe UI"/>
              </a:defRPr>
            </a:pPr>
            <a:r>
              <a:t>📞 Direct Calling Shortcuts</a:t>
            </a:r>
          </a:p>
          <a:p>
            <a:pPr>
              <a:defRPr sz="950">
                <a:solidFill>
                  <a:srgbClr val="94A3B8"/>
                </a:solidFill>
                <a:latin typeface="Segoe UI"/>
              </a:defRPr>
            </a:pPr>
            <a:r>
              <a:t>Instant lookup by customer name or mobile number with one-tap cellular dialer integration.</a:t>
            </a:r>
          </a:p>
        </p:txBody>
      </p:sp>
      <p:sp>
        <p:nvSpPr>
          <p:cNvPr id="16" name="Rounded Rectangle 15"/>
          <p:cNvSpPr/>
          <p:nvPr/>
        </p:nvSpPr>
        <p:spPr>
          <a:xfrm>
            <a:off x="6217920" y="1737360"/>
            <a:ext cx="5242255" cy="4114800"/>
          </a:xfrm>
          <a:prstGeom prst="roundRect">
            <a:avLst/>
          </a:prstGeom>
          <a:solidFill>
            <a:srgbClr val="08321C"/>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khata.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141E52"/>
          </a:solidFill>
          <a:ln w="1270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4FACFE"/>
                </a:solidFill>
                <a:latin typeface="Consolas"/>
              </a:defRPr>
            </a:pPr>
            <a:r>
              <a:t>// 16 • RESULT 05: SQLITE ACID //</a:t>
            </a:r>
          </a:p>
        </p:txBody>
      </p:sp>
      <p:sp>
        <p:nvSpPr>
          <p:cNvPr id="6" name="Can 5"/>
          <p:cNvSpPr/>
          <p:nvPr/>
        </p:nvSpPr>
        <p:spPr>
          <a:xfrm>
            <a:off x="274320" y="2926080"/>
            <a:ext cx="411480" cy="594360"/>
          </a:xfrm>
          <a:prstGeom prst="can">
            <a:avLst/>
          </a:prstGeom>
          <a:noFill/>
          <a:ln w="2540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 6"/>
          <p:cNvSpPr/>
          <p:nvPr/>
        </p:nvSpPr>
        <p:spPr>
          <a:xfrm>
            <a:off x="11567160" y="2926080"/>
            <a:ext cx="411480" cy="594360"/>
          </a:xfrm>
          <a:prstGeom prst="can">
            <a:avLst/>
          </a:prstGeom>
          <a:noFill/>
          <a:ln w="2540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141E52"/>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4FACFE"/>
                </a:solidFill>
                <a:latin typeface="Consolas"/>
              </a:defRPr>
            </a:pPr>
            <a:r>
              <a:t>●  16 • LIVE SYSTEM SHOWCASE</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5: Ledger Database Editor</a:t>
            </a:r>
          </a:p>
          <a:p>
            <a:pPr>
              <a:defRPr sz="1100">
                <a:solidFill>
                  <a:srgbClr val="00F2FE"/>
                </a:solidFill>
                <a:latin typeface="Segoe UI"/>
              </a:defRPr>
            </a:pPr>
            <a:r>
              <a:t>Full ACID SQLite Control with Live Grid Editing &amp; Multi-Format Exports</a:t>
            </a:r>
          </a:p>
        </p:txBody>
      </p:sp>
      <p:sp>
        <p:nvSpPr>
          <p:cNvPr id="10" name="Rectangle 9"/>
          <p:cNvSpPr/>
          <p:nvPr/>
        </p:nvSpPr>
        <p:spPr>
          <a:xfrm>
            <a:off x="731520" y="6309360"/>
            <a:ext cx="10728655" cy="18288"/>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4FACFE"/>
                </a:solidFill>
                <a:latin typeface="Consolas"/>
              </a:defRPr>
            </a:pPr>
            <a:r>
              <a:t>16 / 23</a:t>
            </a:r>
          </a:p>
        </p:txBody>
      </p:sp>
      <p:sp>
        <p:nvSpPr>
          <p:cNvPr id="13" name="Rounded Rectangle 12"/>
          <p:cNvSpPr/>
          <p:nvPr/>
        </p:nvSpPr>
        <p:spPr>
          <a:xfrm>
            <a:off x="731520" y="1737360"/>
            <a:ext cx="5120640" cy="4114800"/>
          </a:xfrm>
          <a:prstGeom prst="roundRect">
            <a:avLst/>
          </a:prstGeom>
          <a:solidFill>
            <a:srgbClr val="141E52"/>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828800"/>
            <a:ext cx="4754880" cy="3931920"/>
          </a:xfrm>
          <a:prstGeom prst="rect">
            <a:avLst/>
          </a:prstGeom>
          <a:noFill/>
        </p:spPr>
        <p:txBody>
          <a:bodyPr wrap="square">
            <a:spAutoFit/>
          </a:bodyPr>
          <a:lstStyle/>
          <a:p>
            <a:pPr>
              <a:defRPr sz="1150" b="1">
                <a:solidFill>
                  <a:srgbClr val="00F2FE"/>
                </a:solidFill>
                <a:latin typeface="Segoe UI"/>
              </a:defRPr>
            </a:pPr>
            <a:r>
              <a:t>📊 In-Line Dataframe Grid Editing</a:t>
            </a:r>
          </a:p>
          <a:p>
            <a:pPr>
              <a:defRPr sz="950">
                <a:solidFill>
                  <a:srgbClr val="94A3B8"/>
                </a:solidFill>
                <a:latin typeface="Segoe UI"/>
              </a:defRPr>
            </a:pPr>
            <a:r>
              <a:t>Interactive data editor enables cell-by-cell live record updates directly to SQLite.</a:t>
            </a:r>
          </a:p>
          <a:p>
            <a:pPr>
              <a:defRPr sz="1150" b="1">
                <a:solidFill>
                  <a:srgbClr val="FF0055"/>
                </a:solidFill>
                <a:latin typeface="Segoe UI"/>
              </a:defRPr>
            </a:pPr>
            <a:r>
              <a:t>🗑️ Single-Click Audited Deletions</a:t>
            </a:r>
          </a:p>
          <a:p>
            <a:pPr>
              <a:defRPr sz="950">
                <a:solidFill>
                  <a:srgbClr val="94A3B8"/>
                </a:solidFill>
                <a:latin typeface="Segoe UI"/>
              </a:defRPr>
            </a:pPr>
            <a:r>
              <a:t>Secure deletion workflow with confirmation dialogs and audit logging.</a:t>
            </a:r>
          </a:p>
          <a:p>
            <a:pPr>
              <a:defRPr sz="1150" b="1">
                <a:solidFill>
                  <a:srgbClr val="00FF87"/>
                </a:solidFill>
                <a:latin typeface="Segoe UI"/>
              </a:defRPr>
            </a:pPr>
            <a:r>
              <a:t>📑 Dual-Language PDF &amp; CSV Exports</a:t>
            </a:r>
          </a:p>
          <a:p>
            <a:pPr>
              <a:defRPr sz="950">
                <a:solidFill>
                  <a:srgbClr val="94A3B8"/>
                </a:solidFill>
                <a:latin typeface="Segoe UI"/>
              </a:defRPr>
            </a:pPr>
            <a:r>
              <a:t>One-click generation of localized Marathi PDF statements and standard CSV files.</a:t>
            </a:r>
          </a:p>
          <a:p>
            <a:pPr>
              <a:defRPr sz="1150" b="1">
                <a:solidFill>
                  <a:srgbClr val="B026FF"/>
                </a:solidFill>
                <a:latin typeface="Segoe UI"/>
              </a:defRPr>
            </a:pPr>
            <a:r>
              <a:t>🛡️ ACID Schema Integrity</a:t>
            </a:r>
          </a:p>
          <a:p>
            <a:pPr>
              <a:defRPr sz="950">
                <a:solidFill>
                  <a:srgbClr val="94A3B8"/>
                </a:solidFill>
                <a:latin typeface="Segoe UI"/>
              </a:defRPr>
            </a:pPr>
            <a:r>
              <a:t>Foreign key constraints and WAL logging prevent orphaned data and schema corruption.</a:t>
            </a:r>
          </a:p>
        </p:txBody>
      </p:sp>
      <p:sp>
        <p:nvSpPr>
          <p:cNvPr id="16" name="Rounded Rectangle 15"/>
          <p:cNvSpPr/>
          <p:nvPr/>
        </p:nvSpPr>
        <p:spPr>
          <a:xfrm>
            <a:off x="6217920" y="1737360"/>
            <a:ext cx="5242255" cy="4114800"/>
          </a:xfrm>
          <a:prstGeom prst="roundRect">
            <a:avLst/>
          </a:prstGeom>
          <a:solidFill>
            <a:srgbClr val="141E52"/>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0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360E44"/>
          </a:solidFill>
          <a:ln w="1270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026FF"/>
                </a:solidFill>
                <a:latin typeface="Consolas"/>
              </a:defRPr>
            </a:pPr>
            <a:r>
              <a:t>// 17 • RESULT 06: RAG AI STUDIO //</a:t>
            </a:r>
          </a:p>
        </p:txBody>
      </p:sp>
      <p:sp>
        <p:nvSpPr>
          <p:cNvPr id="6" name="Oval 5"/>
          <p:cNvSpPr/>
          <p:nvPr/>
        </p:nvSpPr>
        <p:spPr>
          <a:xfrm>
            <a:off x="320040" y="228600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57200" y="347472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20040" y="466344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12880" y="228600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50040" y="347472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12880" y="4663440"/>
            <a:ext cx="201168" cy="201168"/>
          </a:xfrm>
          <a:prstGeom prst="ellipse">
            <a:avLst/>
          </a:prstGeom>
          <a:solidFill>
            <a:srgbClr val="B026FF"/>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65760"/>
            <a:ext cx="3291840" cy="320040"/>
          </a:xfrm>
          <a:prstGeom prst="roundRect">
            <a:avLst/>
          </a:prstGeom>
          <a:solidFill>
            <a:srgbClr val="360E44"/>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026FF"/>
                </a:solidFill>
                <a:latin typeface="Consolas"/>
              </a:defRPr>
            </a:pPr>
            <a:r>
              <a:t>●  17 • LIVE SYSTEM SHOWCASE</a:t>
            </a:r>
          </a:p>
        </p:txBody>
      </p:sp>
      <p:sp>
        <p:nvSpPr>
          <p:cNvPr id="13" name="TextBox 12"/>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6: Neural AI Studio (RAG)</a:t>
            </a:r>
          </a:p>
          <a:p>
            <a:pPr>
              <a:defRPr sz="1100">
                <a:solidFill>
                  <a:srgbClr val="FF0055"/>
                </a:solidFill>
                <a:latin typeface="Segoe UI"/>
              </a:defRPr>
            </a:pPr>
            <a:r>
              <a:t>Context-Aware Conversational Intelligence Grounded in Live Merchant Database</a:t>
            </a:r>
          </a:p>
        </p:txBody>
      </p:sp>
      <p:sp>
        <p:nvSpPr>
          <p:cNvPr id="14" name="Rectangle 13"/>
          <p:cNvSpPr/>
          <p:nvPr/>
        </p:nvSpPr>
        <p:spPr>
          <a:xfrm>
            <a:off x="731520" y="6309360"/>
            <a:ext cx="10728655" cy="18288"/>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6" name="TextBox 15"/>
          <p:cNvSpPr txBox="1"/>
          <p:nvPr/>
        </p:nvSpPr>
        <p:spPr>
          <a:xfrm>
            <a:off x="9601200" y="6355080"/>
            <a:ext cx="1828800" cy="365760"/>
          </a:xfrm>
          <a:prstGeom prst="rect">
            <a:avLst/>
          </a:prstGeom>
          <a:noFill/>
        </p:spPr>
        <p:txBody>
          <a:bodyPr wrap="none">
            <a:spAutoFit/>
          </a:bodyPr>
          <a:lstStyle/>
          <a:p>
            <a:pPr algn="r">
              <a:defRPr sz="900" b="1">
                <a:solidFill>
                  <a:srgbClr val="B026FF"/>
                </a:solidFill>
                <a:latin typeface="Consolas"/>
              </a:defRPr>
            </a:pPr>
            <a:r>
              <a:t>17 / 23</a:t>
            </a:r>
          </a:p>
        </p:txBody>
      </p:sp>
      <p:sp>
        <p:nvSpPr>
          <p:cNvPr id="17" name="Rounded Rectangle 16"/>
          <p:cNvSpPr/>
          <p:nvPr/>
        </p:nvSpPr>
        <p:spPr>
          <a:xfrm>
            <a:off x="731520" y="1737360"/>
            <a:ext cx="5120640" cy="4114800"/>
          </a:xfrm>
          <a:prstGeom prst="roundRect">
            <a:avLst/>
          </a:prstGeom>
          <a:solidFill>
            <a:srgbClr val="360E44"/>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1828800"/>
            <a:ext cx="4754880" cy="3931920"/>
          </a:xfrm>
          <a:prstGeom prst="rect">
            <a:avLst/>
          </a:prstGeom>
          <a:noFill/>
        </p:spPr>
        <p:txBody>
          <a:bodyPr wrap="square">
            <a:spAutoFit/>
          </a:bodyPr>
          <a:lstStyle/>
          <a:p>
            <a:pPr>
              <a:defRPr sz="1150" b="1">
                <a:solidFill>
                  <a:srgbClr val="B026FF"/>
                </a:solidFill>
                <a:latin typeface="Segoe UI"/>
              </a:defRPr>
            </a:pPr>
            <a:r>
              <a:t>🧠 In-Memory SQL Context RAG</a:t>
            </a:r>
          </a:p>
          <a:p>
            <a:pPr>
              <a:defRPr sz="950">
                <a:solidFill>
                  <a:srgbClr val="94A3B8"/>
                </a:solidFill>
                <a:latin typeface="Segoe UI"/>
              </a:defRPr>
            </a:pPr>
            <a:r>
              <a:t>Chatbot directly queries live sales, credit khata, and stock databases for 100% accurate, hallucination-free answers.</a:t>
            </a:r>
          </a:p>
          <a:p>
            <a:pPr>
              <a:defRPr sz="1150" b="1">
                <a:solidFill>
                  <a:srgbClr val="00F2FE"/>
                </a:solidFill>
                <a:latin typeface="Segoe UI"/>
              </a:defRPr>
            </a:pPr>
            <a:r>
              <a:t>🎙️ Multi-Action Voice &amp; Marathi NLP</a:t>
            </a:r>
          </a:p>
          <a:p>
            <a:pPr>
              <a:defRPr sz="950">
                <a:solidFill>
                  <a:srgbClr val="94A3B8"/>
                </a:solidFill>
                <a:latin typeface="Segoe UI"/>
              </a:defRPr>
            </a:pPr>
            <a:r>
              <a:t>Merchants execute multi-bill recording and ask complex business questions in natural Marathi.</a:t>
            </a:r>
          </a:p>
          <a:p>
            <a:pPr>
              <a:defRPr sz="1150" b="1">
                <a:solidFill>
                  <a:srgbClr val="00FF87"/>
                </a:solidFill>
                <a:latin typeface="Segoe UI"/>
              </a:defRPr>
            </a:pPr>
            <a:r>
              <a:t>⚡ Quick-Action Suggestion Chips</a:t>
            </a:r>
          </a:p>
          <a:p>
            <a:pPr>
              <a:defRPr sz="950">
                <a:solidFill>
                  <a:srgbClr val="94A3B8"/>
                </a:solidFill>
                <a:latin typeface="Segoe UI"/>
              </a:defRPr>
            </a:pPr>
            <a:r>
              <a:t>One-tap prompt chips for pending credit summaries, low stock replenishment lists, and profit trajectories.</a:t>
            </a:r>
          </a:p>
          <a:p>
            <a:pPr>
              <a:defRPr sz="1150" b="1">
                <a:solidFill>
                  <a:srgbClr val="FF0055"/>
                </a:solidFill>
                <a:latin typeface="Segoe UI"/>
              </a:defRPr>
            </a:pPr>
            <a:r>
              <a:t>🧹 Real-Time Memory &amp; Clear Chat</a:t>
            </a:r>
          </a:p>
          <a:p>
            <a:pPr>
              <a:defRPr sz="950">
                <a:solidFill>
                  <a:srgbClr val="94A3B8"/>
                </a:solidFill>
                <a:latin typeface="Segoe UI"/>
              </a:defRPr>
            </a:pPr>
            <a:r>
              <a:t>Maintains conversational memory across transactions with single-click session clearing for staff changeovers.</a:t>
            </a:r>
          </a:p>
        </p:txBody>
      </p:sp>
      <p:sp>
        <p:nvSpPr>
          <p:cNvPr id="20" name="Rounded Rectangle 19"/>
          <p:cNvSpPr/>
          <p:nvPr/>
        </p:nvSpPr>
        <p:spPr>
          <a:xfrm>
            <a:off x="6217920" y="1737360"/>
            <a:ext cx="5242255" cy="4114800"/>
          </a:xfrm>
          <a:prstGeom prst="roundRect">
            <a:avLst/>
          </a:prstGeom>
          <a:solidFill>
            <a:srgbClr val="360E44"/>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ag.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102844"/>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18 • RESULT 07: RBAC AUDIT //</a:t>
            </a:r>
          </a:p>
        </p:txBody>
      </p:sp>
      <p:sp>
        <p:nvSpPr>
          <p:cNvPr id="6" name="Hexagon 5"/>
          <p:cNvSpPr/>
          <p:nvPr/>
        </p:nvSpPr>
        <p:spPr>
          <a:xfrm>
            <a:off x="274320" y="3017520"/>
            <a:ext cx="411480" cy="502920"/>
          </a:xfrm>
          <a:prstGeom prst="hexagon">
            <a:avLst/>
          </a:prstGeom>
          <a:noFill/>
          <a:ln w="254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1567160" y="3017520"/>
            <a:ext cx="411480" cy="502920"/>
          </a:xfrm>
          <a:prstGeom prst="hexagon">
            <a:avLst/>
          </a:prstGeom>
          <a:noFill/>
          <a:ln w="254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1028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2FE"/>
                </a:solidFill>
                <a:latin typeface="Consolas"/>
              </a:defRPr>
            </a:pPr>
            <a:r>
              <a:t>●  18 • LIVE SYSTEM SHOWCASE</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7: Staff Management &amp; Audit</a:t>
            </a:r>
          </a:p>
          <a:p>
            <a:pPr>
              <a:defRPr sz="1100">
                <a:solidFill>
                  <a:srgbClr val="4FACFE"/>
                </a:solidFill>
                <a:latin typeface="Segoe UI"/>
              </a:defRPr>
            </a:pPr>
            <a:r>
              <a:t>Granular Permission Matrix &amp; Immutable System Audit Trail</a:t>
            </a:r>
          </a:p>
        </p:txBody>
      </p:sp>
      <p:sp>
        <p:nvSpPr>
          <p:cNvPr id="10" name="Rectangle 9"/>
          <p:cNvSpPr/>
          <p:nvPr/>
        </p:nvSpPr>
        <p:spPr>
          <a:xfrm>
            <a:off x="731520" y="6309360"/>
            <a:ext cx="10728655" cy="18288"/>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00F2FE"/>
                </a:solidFill>
                <a:latin typeface="Consolas"/>
              </a:defRPr>
            </a:pPr>
            <a:r>
              <a:t>18 / 23</a:t>
            </a:r>
          </a:p>
        </p:txBody>
      </p:sp>
      <p:sp>
        <p:nvSpPr>
          <p:cNvPr id="13" name="Rounded Rectangle 12"/>
          <p:cNvSpPr/>
          <p:nvPr/>
        </p:nvSpPr>
        <p:spPr>
          <a:xfrm>
            <a:off x="731520" y="1737360"/>
            <a:ext cx="5120640" cy="4114800"/>
          </a:xfrm>
          <a:prstGeom prst="roundRect">
            <a:avLst/>
          </a:prstGeom>
          <a:solidFill>
            <a:srgbClr val="1028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828800"/>
            <a:ext cx="4754880" cy="3931920"/>
          </a:xfrm>
          <a:prstGeom prst="rect">
            <a:avLst/>
          </a:prstGeom>
          <a:noFill/>
        </p:spPr>
        <p:txBody>
          <a:bodyPr wrap="square">
            <a:spAutoFit/>
          </a:bodyPr>
          <a:lstStyle/>
          <a:p>
            <a:pPr>
              <a:defRPr sz="1150" b="1">
                <a:solidFill>
                  <a:srgbClr val="00F2FE"/>
                </a:solidFill>
                <a:latin typeface="Segoe UI"/>
              </a:defRPr>
            </a:pPr>
            <a:r>
              <a:t>👥 Granular Role Provisioning</a:t>
            </a:r>
          </a:p>
          <a:p>
            <a:pPr>
              <a:defRPr sz="950">
                <a:solidFill>
                  <a:srgbClr val="94A3B8"/>
                </a:solidFill>
                <a:latin typeface="Segoe UI"/>
              </a:defRPr>
            </a:pPr>
            <a:r>
              <a:t>Easily onboard cashiers and stock clerks with restrictive access to pricing and ledger edits.</a:t>
            </a:r>
          </a:p>
          <a:p>
            <a:pPr>
              <a:defRPr sz="1150" b="1">
                <a:solidFill>
                  <a:srgbClr val="B026FF"/>
                </a:solidFill>
                <a:latin typeface="Segoe UI"/>
              </a:defRPr>
            </a:pPr>
            <a:r>
              <a:t>📜 Immutable Audit Log History</a:t>
            </a:r>
          </a:p>
          <a:p>
            <a:pPr>
              <a:defRPr sz="950">
                <a:solidFill>
                  <a:srgbClr val="94A3B8"/>
                </a:solidFill>
                <a:latin typeface="Segoe UI"/>
              </a:defRPr>
            </a:pPr>
            <a:r>
              <a:t>Tracks every single database mutation with timestamp, username, and event details.</a:t>
            </a:r>
          </a:p>
          <a:p>
            <a:pPr>
              <a:defRPr sz="1150" b="1">
                <a:solidFill>
                  <a:srgbClr val="00FF87"/>
                </a:solidFill>
                <a:latin typeface="Segoe UI"/>
              </a:defRPr>
            </a:pPr>
            <a:r>
              <a:t>🔒 Zero-Trust Ledger Protection</a:t>
            </a:r>
          </a:p>
          <a:p>
            <a:pPr>
              <a:defRPr sz="950">
                <a:solidFill>
                  <a:srgbClr val="94A3B8"/>
                </a:solidFill>
                <a:latin typeface="Segoe UI"/>
              </a:defRPr>
            </a:pPr>
            <a:r>
              <a:t>Prevents unauthorized staff members from editing historic bills or deleting records.</a:t>
            </a:r>
          </a:p>
          <a:p>
            <a:pPr>
              <a:defRPr sz="1150" b="1">
                <a:solidFill>
                  <a:srgbClr val="4FACFE"/>
                </a:solidFill>
                <a:latin typeface="Segoe UI"/>
              </a:defRPr>
            </a:pPr>
            <a:r>
              <a:t>⚡ Instant Access Revocation</a:t>
            </a:r>
          </a:p>
          <a:p>
            <a:pPr>
              <a:defRPr sz="950">
                <a:solidFill>
                  <a:srgbClr val="94A3B8"/>
                </a:solidFill>
                <a:latin typeface="Segoe UI"/>
              </a:defRPr>
            </a:pPr>
            <a:r>
              <a:t>Deactivate compromised or departed staff accounts in a single click with zero downtime.</a:t>
            </a:r>
          </a:p>
        </p:txBody>
      </p:sp>
      <p:sp>
        <p:nvSpPr>
          <p:cNvPr id="16" name="Rounded Rectangle 15"/>
          <p:cNvSpPr/>
          <p:nvPr/>
        </p:nvSpPr>
        <p:spPr>
          <a:xfrm>
            <a:off x="6217920" y="1737360"/>
            <a:ext cx="5242255" cy="4114800"/>
          </a:xfrm>
          <a:prstGeom prst="roundRect">
            <a:avLst/>
          </a:prstGeom>
          <a:solidFill>
            <a:srgbClr val="10284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taff.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242E40"/>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Consolas"/>
              </a:defRPr>
            </a:pPr>
            <a:r>
              <a:t>// 19 • RESULT 08: THERMAL EXPORTS //</a:t>
            </a:r>
          </a:p>
        </p:txBody>
      </p:sp>
      <p:sp>
        <p:nvSpPr>
          <p:cNvPr id="6" name="Rectangle 5"/>
          <p:cNvSpPr/>
          <p:nvPr/>
        </p:nvSpPr>
        <p:spPr>
          <a:xfrm>
            <a:off x="320040" y="1828800"/>
            <a:ext cx="36576" cy="384048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828800"/>
            <a:ext cx="36576" cy="384048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612880" y="1828800"/>
            <a:ext cx="36576" cy="384048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31752" y="1828800"/>
            <a:ext cx="36576" cy="384048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242E40"/>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2FE"/>
                </a:solidFill>
                <a:latin typeface="Consolas"/>
              </a:defRPr>
            </a:pPr>
            <a:r>
              <a:t>●  19 • LIVE SYSTEM SHOWCASE</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Result 8: Clean Reports &amp; Exports</a:t>
            </a:r>
          </a:p>
          <a:p>
            <a:pPr>
              <a:defRPr sz="1100">
                <a:solidFill>
                  <a:srgbClr val="F8FAFC"/>
                </a:solidFill>
                <a:latin typeface="Segoe UI"/>
              </a:defRPr>
            </a:pPr>
            <a:r>
              <a:t>Auditable Accounting Pipelines &amp; Professional Dual-Language Print Layouts</a:t>
            </a:r>
          </a:p>
        </p:txBody>
      </p:sp>
      <p:sp>
        <p:nvSpPr>
          <p:cNvPr id="12" name="Rectangle 11"/>
          <p:cNvSpPr/>
          <p:nvPr/>
        </p:nvSpPr>
        <p:spPr>
          <a:xfrm>
            <a:off x="731520" y="6309360"/>
            <a:ext cx="10728655" cy="1828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00F2FE"/>
                </a:solidFill>
                <a:latin typeface="Consolas"/>
              </a:defRPr>
            </a:pPr>
            <a:r>
              <a:t>19 / 23</a:t>
            </a:r>
          </a:p>
        </p:txBody>
      </p:sp>
      <p:sp>
        <p:nvSpPr>
          <p:cNvPr id="15" name="Rounded Rectangle 14"/>
          <p:cNvSpPr/>
          <p:nvPr/>
        </p:nvSpPr>
        <p:spPr>
          <a:xfrm>
            <a:off x="731520" y="1737360"/>
            <a:ext cx="5120640" cy="4114800"/>
          </a:xfrm>
          <a:prstGeom prst="roundRect">
            <a:avLst/>
          </a:prstGeom>
          <a:solidFill>
            <a:srgbClr val="242E40"/>
          </a:solidFill>
          <a:ln w="1524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1737360"/>
            <a:ext cx="493776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1828800"/>
            <a:ext cx="4754880" cy="3931920"/>
          </a:xfrm>
          <a:prstGeom prst="rect">
            <a:avLst/>
          </a:prstGeom>
          <a:noFill/>
        </p:spPr>
        <p:txBody>
          <a:bodyPr wrap="square">
            <a:spAutoFit/>
          </a:bodyPr>
          <a:lstStyle/>
          <a:p>
            <a:pPr>
              <a:defRPr sz="1150" b="1">
                <a:solidFill>
                  <a:srgbClr val="00F2FE"/>
                </a:solidFill>
                <a:latin typeface="Segoe UI"/>
              </a:defRPr>
            </a:pPr>
            <a:r>
              <a:t>📑 Itemized CSV Data Exports</a:t>
            </a:r>
          </a:p>
          <a:p>
            <a:pPr>
              <a:defRPr sz="950">
                <a:solidFill>
                  <a:srgbClr val="94A3B8"/>
                </a:solidFill>
                <a:latin typeface="Segoe UI"/>
              </a:defRPr>
            </a:pPr>
            <a:r>
              <a:t>One-click extraction of complete transaction logs with line-items, tax components, customer IDs, and payment methods for Excel or Tally.</a:t>
            </a:r>
          </a:p>
          <a:p>
            <a:pPr>
              <a:defRPr sz="1150" b="1">
                <a:solidFill>
                  <a:srgbClr val="00FF87"/>
                </a:solidFill>
                <a:latin typeface="Segoe UI"/>
              </a:defRPr>
            </a:pPr>
            <a:r>
              <a:t>📄 Dual-Language Marathi/English Bills</a:t>
            </a:r>
          </a:p>
          <a:p>
            <a:pPr>
              <a:defRPr sz="950">
                <a:solidFill>
                  <a:srgbClr val="94A3B8"/>
                </a:solidFill>
                <a:latin typeface="Segoe UI"/>
              </a:defRPr>
            </a:pPr>
            <a:r>
              <a:t>Generates customer receipts with English titles and Marathi Devanagari translation headers, shop branding, and tax breakdown.</a:t>
            </a:r>
          </a:p>
          <a:p>
            <a:pPr>
              <a:defRPr sz="1150" b="1">
                <a:solidFill>
                  <a:srgbClr val="B026FF"/>
                </a:solidFill>
                <a:latin typeface="Segoe UI"/>
              </a:defRPr>
            </a:pPr>
            <a:r>
              <a:t>🖨️ 1-Click Thermal Print Layout</a:t>
            </a:r>
          </a:p>
          <a:p>
            <a:pPr>
              <a:defRPr sz="950">
                <a:solidFill>
                  <a:srgbClr val="94A3B8"/>
                </a:solidFill>
                <a:latin typeface="Segoe UI"/>
              </a:defRPr>
            </a:pPr>
            <a:r>
              <a:t>Engineered specifically for standard 58mm &amp; 80mm ESC/POS thermal printers with dynamic UPI QR payment codes.</a:t>
            </a:r>
          </a:p>
          <a:p>
            <a:pPr>
              <a:defRPr sz="1150" b="1">
                <a:solidFill>
                  <a:srgbClr val="FF0055"/>
                </a:solidFill>
                <a:latin typeface="Segoe UI"/>
              </a:defRPr>
            </a:pPr>
            <a:r>
              <a:t>⚖️ Legal &amp; Audit Compliance</a:t>
            </a:r>
          </a:p>
          <a:p>
            <a:pPr>
              <a:defRPr sz="950">
                <a:solidFill>
                  <a:srgbClr val="94A3B8"/>
                </a:solidFill>
                <a:latin typeface="Segoe UI"/>
              </a:defRPr>
            </a:pPr>
            <a:r>
              <a:t>Produces ready-to-audit itemized registers to facilitate effortless quarterly reconciliation and accountant reporting.</a:t>
            </a:r>
          </a:p>
        </p:txBody>
      </p:sp>
      <p:sp>
        <p:nvSpPr>
          <p:cNvPr id="18" name="Rounded Rectangle 17"/>
          <p:cNvSpPr/>
          <p:nvPr/>
        </p:nvSpPr>
        <p:spPr>
          <a:xfrm>
            <a:off x="6217920" y="1737360"/>
            <a:ext cx="5242255" cy="4114800"/>
          </a:xfrm>
          <a:prstGeom prst="roundRect">
            <a:avLst/>
          </a:prstGeom>
          <a:solidFill>
            <a:srgbClr val="242E40"/>
          </a:solidFill>
          <a:ln w="1524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737360"/>
            <a:ext cx="5059375"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ports.png"/>
          <p:cNvPicPr>
            <a:picLocks noChangeAspect="1"/>
          </p:cNvPicPr>
          <p:nvPr/>
        </p:nvPicPr>
        <p:blipFill>
          <a:blip r:embed="rId2"/>
          <a:stretch>
            <a:fillRect/>
          </a:stretch>
        </p:blipFill>
        <p:spPr>
          <a:xfrm>
            <a:off x="6355080" y="1874520"/>
            <a:ext cx="4967935" cy="38404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063626"/>
          </a:solidFill>
          <a:ln w="127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Consolas"/>
              </a:defRPr>
            </a:pPr>
            <a:r>
              <a:t>// 20 • KEY ADVANTAGES //</a:t>
            </a:r>
          </a:p>
        </p:txBody>
      </p:sp>
      <p:sp>
        <p:nvSpPr>
          <p:cNvPr id="6" name="Diamond 5"/>
          <p:cNvSpPr/>
          <p:nvPr/>
        </p:nvSpPr>
        <p:spPr>
          <a:xfrm>
            <a:off x="274320" y="3108960"/>
            <a:ext cx="411480" cy="411480"/>
          </a:xfrm>
          <a:prstGeom prst="diamond">
            <a:avLst/>
          </a:prstGeom>
          <a:solidFill>
            <a:srgbClr val="063626"/>
          </a:solidFill>
          <a:ln w="254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11567160" y="3108960"/>
            <a:ext cx="411480" cy="411480"/>
          </a:xfrm>
          <a:prstGeom prst="diamond">
            <a:avLst/>
          </a:prstGeom>
          <a:solidFill>
            <a:srgbClr val="063626"/>
          </a:solidFill>
          <a:ln w="2540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063626"/>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FF87"/>
                </a:solidFill>
                <a:latin typeface="Consolas"/>
              </a:defRPr>
            </a:pPr>
            <a:r>
              <a:t>●  20 • VALUE PROPOSITION</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Advantages &amp; Strengths</a:t>
            </a:r>
          </a:p>
          <a:p>
            <a:pPr>
              <a:defRPr sz="1100">
                <a:solidFill>
                  <a:srgbClr val="00F2FE"/>
                </a:solidFill>
                <a:latin typeface="Segoe UI"/>
              </a:defRPr>
            </a:pPr>
            <a:r>
              <a:t>Why VernaLedger.AI Delivers Unmatched Utility for Rural Retailers</a:t>
            </a:r>
          </a:p>
        </p:txBody>
      </p:sp>
      <p:sp>
        <p:nvSpPr>
          <p:cNvPr id="10" name="Rectangle 9"/>
          <p:cNvSpPr/>
          <p:nvPr/>
        </p:nvSpPr>
        <p:spPr>
          <a:xfrm>
            <a:off x="731520" y="6309360"/>
            <a:ext cx="10728655" cy="18288"/>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00FF87"/>
                </a:solidFill>
                <a:latin typeface="Consolas"/>
              </a:defRPr>
            </a:pPr>
            <a:r>
              <a:t>20 / 23</a:t>
            </a:r>
          </a:p>
        </p:txBody>
      </p:sp>
      <p:sp>
        <p:nvSpPr>
          <p:cNvPr id="13" name="Rounded Rectangle 12"/>
          <p:cNvSpPr/>
          <p:nvPr/>
        </p:nvSpPr>
        <p:spPr>
          <a:xfrm>
            <a:off x="731520" y="1737360"/>
            <a:ext cx="3328416" cy="4114800"/>
          </a:xfrm>
          <a:prstGeom prst="roundRect">
            <a:avLst/>
          </a:prstGeom>
          <a:solidFill>
            <a:srgbClr val="063626"/>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737360"/>
            <a:ext cx="3145536"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011680"/>
            <a:ext cx="2871216" cy="3566160"/>
          </a:xfrm>
          <a:prstGeom prst="rect">
            <a:avLst/>
          </a:prstGeom>
          <a:noFill/>
        </p:spPr>
        <p:txBody>
          <a:bodyPr wrap="square">
            <a:spAutoFit/>
          </a:bodyPr>
          <a:lstStyle/>
          <a:p>
            <a:pPr>
              <a:defRPr sz="1400" b="1">
                <a:solidFill>
                  <a:srgbClr val="00F2FE"/>
                </a:solidFill>
                <a:latin typeface="Segoe UI"/>
              </a:defRPr>
            </a:pPr>
            <a:r>
              <a:t>🇮🇳 True Vernacular AI</a:t>
            </a:r>
          </a:p>
          <a:p>
            <a:pPr>
              <a:defRPr sz="1050">
                <a:solidFill>
                  <a:srgbClr val="94A3B8"/>
                </a:solidFill>
                <a:latin typeface="Segoe UI"/>
              </a:defRPr>
            </a:pPr>
            <a:r>
              <a:t>Bilingual Marathi/English interface coupled with natural voice recognition eliminates the steep digital literacy curve for grassroots shopkeepers.</a:t>
            </a:r>
          </a:p>
          <a:p>
            <a:br/>
            <a:pPr>
              <a:defRPr sz="950" b="1">
                <a:solidFill>
                  <a:srgbClr val="00F2FE"/>
                </a:solidFill>
                <a:latin typeface="Consolas"/>
              </a:defRPr>
            </a:pPr>
            <a:r>
              <a:t>ROI Metric: Zero Learning Curve</a:t>
            </a:r>
          </a:p>
        </p:txBody>
      </p:sp>
      <p:sp>
        <p:nvSpPr>
          <p:cNvPr id="16" name="Rounded Rectangle 15"/>
          <p:cNvSpPr/>
          <p:nvPr/>
        </p:nvSpPr>
        <p:spPr>
          <a:xfrm>
            <a:off x="4389120" y="1737360"/>
            <a:ext cx="3328416" cy="4114800"/>
          </a:xfrm>
          <a:prstGeom prst="roundRect">
            <a:avLst/>
          </a:prstGeom>
          <a:solidFill>
            <a:srgbClr val="063626"/>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1737360"/>
            <a:ext cx="3145536"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011680"/>
            <a:ext cx="2871216" cy="3566160"/>
          </a:xfrm>
          <a:prstGeom prst="rect">
            <a:avLst/>
          </a:prstGeom>
          <a:noFill/>
        </p:spPr>
        <p:txBody>
          <a:bodyPr wrap="square">
            <a:spAutoFit/>
          </a:bodyPr>
          <a:lstStyle/>
          <a:p>
            <a:pPr>
              <a:defRPr sz="1400" b="1">
                <a:solidFill>
                  <a:srgbClr val="00FF87"/>
                </a:solidFill>
                <a:latin typeface="Segoe UI"/>
              </a:defRPr>
            </a:pPr>
            <a:r>
              <a:t>⚡ 60% Faster Debt Recovery</a:t>
            </a:r>
          </a:p>
          <a:p>
            <a:pPr>
              <a:defRPr sz="1050">
                <a:solidFill>
                  <a:srgbClr val="94A3B8"/>
                </a:solidFill>
                <a:latin typeface="Segoe UI"/>
              </a:defRPr>
            </a:pPr>
            <a:r>
              <a:t>Direct WhatsApp payment reminders and automated due date warnings accelerate customer khata repayments and eliminate awkward debt confrontations.</a:t>
            </a:r>
          </a:p>
          <a:p>
            <a:br/>
            <a:pPr>
              <a:defRPr sz="950" b="1">
                <a:solidFill>
                  <a:srgbClr val="00FF87"/>
                </a:solidFill>
                <a:latin typeface="Consolas"/>
              </a:defRPr>
            </a:pPr>
            <a:r>
              <a:t>ROI Metric: Accelerated Working Capital</a:t>
            </a:r>
          </a:p>
        </p:txBody>
      </p:sp>
      <p:sp>
        <p:nvSpPr>
          <p:cNvPr id="19" name="Rounded Rectangle 18"/>
          <p:cNvSpPr/>
          <p:nvPr/>
        </p:nvSpPr>
        <p:spPr>
          <a:xfrm>
            <a:off x="8046720" y="1737360"/>
            <a:ext cx="3328416" cy="4114800"/>
          </a:xfrm>
          <a:prstGeom prst="roundRect">
            <a:avLst/>
          </a:prstGeom>
          <a:solidFill>
            <a:srgbClr val="063626"/>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737360"/>
            <a:ext cx="3145536"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011680"/>
            <a:ext cx="2871216" cy="3566160"/>
          </a:xfrm>
          <a:prstGeom prst="rect">
            <a:avLst/>
          </a:prstGeom>
          <a:noFill/>
        </p:spPr>
        <p:txBody>
          <a:bodyPr wrap="square">
            <a:spAutoFit/>
          </a:bodyPr>
          <a:lstStyle/>
          <a:p>
            <a:pPr>
              <a:defRPr sz="1400" b="1">
                <a:solidFill>
                  <a:srgbClr val="B026FF"/>
                </a:solidFill>
                <a:latin typeface="Segoe UI"/>
              </a:defRPr>
            </a:pPr>
            <a:r>
              <a:t>🛡️ Enterprise-Grade Security</a:t>
            </a:r>
          </a:p>
          <a:p>
            <a:pPr>
              <a:defRPr sz="1050">
                <a:solidFill>
                  <a:srgbClr val="94A3B8"/>
                </a:solidFill>
                <a:latin typeface="Segoe UI"/>
              </a:defRPr>
            </a:pPr>
            <a:r>
              <a:t>Local SQLite database ensures instant responsiveness and zero downtime even during rural broadband fluctuations, backed by PBKDF2 password security.</a:t>
            </a:r>
          </a:p>
          <a:p>
            <a:br/>
            <a:pPr>
              <a:defRPr sz="950" b="1">
                <a:solidFill>
                  <a:srgbClr val="B026FF"/>
                </a:solidFill>
                <a:latin typeface="Consolas"/>
              </a:defRPr>
            </a:pPr>
            <a:r>
              <a:t>ROI Metric: Offline-First Resilience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00E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421610"/>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0055"/>
                </a:solidFill>
                <a:latin typeface="Consolas"/>
              </a:defRPr>
            </a:pPr>
            <a:r>
              <a:t>// 21 • SYSTEM LIMITATIONS //</a:t>
            </a:r>
          </a:p>
        </p:txBody>
      </p:sp>
      <p:sp>
        <p:nvSpPr>
          <p:cNvPr id="6" name="Isosceles Triangle 5"/>
          <p:cNvSpPr/>
          <p:nvPr/>
        </p:nvSpPr>
        <p:spPr>
          <a:xfrm>
            <a:off x="274320" y="3108960"/>
            <a:ext cx="411480" cy="411480"/>
          </a:xfrm>
          <a:prstGeom prst="triangle">
            <a:avLst/>
          </a:prstGeom>
          <a:solidFill>
            <a:srgbClr val="78140F"/>
          </a:solidFill>
          <a:ln w="254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11567160" y="3108960"/>
            <a:ext cx="411480" cy="411480"/>
          </a:xfrm>
          <a:prstGeom prst="triangle">
            <a:avLst/>
          </a:prstGeom>
          <a:solidFill>
            <a:srgbClr val="78140F"/>
          </a:solidFill>
          <a:ln w="254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65760"/>
            <a:ext cx="3291840" cy="320040"/>
          </a:xfrm>
          <a:prstGeom prst="roundRect">
            <a:avLst/>
          </a:prstGeom>
          <a:solidFill>
            <a:srgbClr val="421610"/>
          </a:solidFill>
          <a:ln w="1524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0055"/>
                </a:solidFill>
                <a:latin typeface="Consolas"/>
              </a:defRPr>
            </a:pPr>
            <a:r>
              <a:t>●  21 • ENGINEERING CONSTRAINTS</a:t>
            </a:r>
          </a:p>
        </p:txBody>
      </p:sp>
      <p:sp>
        <p:nvSpPr>
          <p:cNvPr id="9" name="TextBox 8"/>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System Limitations</a:t>
            </a:r>
          </a:p>
          <a:p>
            <a:pPr>
              <a:defRPr sz="1100">
                <a:solidFill>
                  <a:srgbClr val="FFAA00"/>
                </a:solidFill>
                <a:latin typeface="Segoe UI"/>
              </a:defRPr>
            </a:pPr>
            <a:r>
              <a:t>Known Technical Boundaries &amp; Operational Dependencies</a:t>
            </a:r>
          </a:p>
        </p:txBody>
      </p:sp>
      <p:sp>
        <p:nvSpPr>
          <p:cNvPr id="10" name="Rectangle 9"/>
          <p:cNvSpPr/>
          <p:nvPr/>
        </p:nvSpPr>
        <p:spPr>
          <a:xfrm>
            <a:off x="731520" y="6309360"/>
            <a:ext cx="10728655" cy="18288"/>
          </a:xfrm>
          <a:prstGeom prst="rect">
            <a:avLst/>
          </a:prstGeom>
          <a:solidFill>
            <a:srgbClr val="FF3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2" name="TextBox 11"/>
          <p:cNvSpPr txBox="1"/>
          <p:nvPr/>
        </p:nvSpPr>
        <p:spPr>
          <a:xfrm>
            <a:off x="9601200" y="6355080"/>
            <a:ext cx="1828800" cy="365760"/>
          </a:xfrm>
          <a:prstGeom prst="rect">
            <a:avLst/>
          </a:prstGeom>
          <a:noFill/>
        </p:spPr>
        <p:txBody>
          <a:bodyPr wrap="none">
            <a:spAutoFit/>
          </a:bodyPr>
          <a:lstStyle/>
          <a:p>
            <a:pPr algn="r">
              <a:defRPr sz="900" b="1">
                <a:solidFill>
                  <a:srgbClr val="FF0055"/>
                </a:solidFill>
                <a:latin typeface="Consolas"/>
              </a:defRPr>
            </a:pPr>
            <a:r>
              <a:t>21 / 23</a:t>
            </a:r>
          </a:p>
        </p:txBody>
      </p:sp>
      <p:sp>
        <p:nvSpPr>
          <p:cNvPr id="13" name="Rounded Rectangle 12"/>
          <p:cNvSpPr/>
          <p:nvPr/>
        </p:nvSpPr>
        <p:spPr>
          <a:xfrm>
            <a:off x="731520" y="1737360"/>
            <a:ext cx="5120640" cy="4114800"/>
          </a:xfrm>
          <a:prstGeom prst="roundRect">
            <a:avLst/>
          </a:prstGeom>
          <a:solidFill>
            <a:srgbClr val="421610"/>
          </a:solidFill>
          <a:ln w="15240">
            <a:solidFill>
              <a:srgbClr val="FF3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173736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011680"/>
            <a:ext cx="4663440" cy="3566160"/>
          </a:xfrm>
          <a:prstGeom prst="rect">
            <a:avLst/>
          </a:prstGeom>
          <a:noFill/>
        </p:spPr>
        <p:txBody>
          <a:bodyPr wrap="square">
            <a:spAutoFit/>
          </a:bodyPr>
          <a:lstStyle/>
          <a:p>
            <a:pPr>
              <a:defRPr sz="1400" b="1">
                <a:solidFill>
                  <a:srgbClr val="FF0055"/>
                </a:solidFill>
                <a:latin typeface="Segoe UI"/>
              </a:defRPr>
            </a:pPr>
            <a:r>
              <a:t>🌐 AI Internet Dependency</a:t>
            </a:r>
          </a:p>
          <a:p>
            <a:pPr>
              <a:defRPr sz="1100">
                <a:solidFill>
                  <a:srgbClr val="94A3B8"/>
                </a:solidFill>
                <a:latin typeface="Segoe UI"/>
              </a:defRPr>
            </a:pPr>
            <a:r>
              <a:t>While core database transactions and manual POS billing run 100% offline, multimodal Gemini Flash OCR parsing and Edge TTS synthesis require an active internet connection to contact cloud endpoints.</a:t>
            </a:r>
          </a:p>
          <a:p>
            <a:br/>
            <a:pPr>
              <a:defRPr sz="950" b="1">
                <a:solidFill>
                  <a:srgbClr val="FF0055"/>
                </a:solidFill>
                <a:latin typeface="Consolas"/>
              </a:defRPr>
            </a:pPr>
            <a:r>
              <a:t>[Constraint: Cloud LLM Endpoint]</a:t>
            </a:r>
          </a:p>
        </p:txBody>
      </p:sp>
      <p:sp>
        <p:nvSpPr>
          <p:cNvPr id="16" name="Rounded Rectangle 15"/>
          <p:cNvSpPr/>
          <p:nvPr/>
        </p:nvSpPr>
        <p:spPr>
          <a:xfrm>
            <a:off x="6217920" y="1737360"/>
            <a:ext cx="5120640" cy="4114800"/>
          </a:xfrm>
          <a:prstGeom prst="roundRect">
            <a:avLst/>
          </a:prstGeom>
          <a:solidFill>
            <a:srgbClr val="421610"/>
          </a:solidFill>
          <a:ln w="15240">
            <a:solidFill>
              <a:srgbClr val="FF3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737360"/>
            <a:ext cx="4937760" cy="36576"/>
          </a:xfrm>
          <a:prstGeom prst="rect">
            <a:avLst/>
          </a:prstGeom>
          <a:solidFill>
            <a:srgbClr val="FF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011680"/>
            <a:ext cx="4663440" cy="3566160"/>
          </a:xfrm>
          <a:prstGeom prst="rect">
            <a:avLst/>
          </a:prstGeom>
          <a:noFill/>
        </p:spPr>
        <p:txBody>
          <a:bodyPr wrap="square">
            <a:spAutoFit/>
          </a:bodyPr>
          <a:lstStyle/>
          <a:p>
            <a:pPr>
              <a:defRPr sz="1400" b="1">
                <a:solidFill>
                  <a:srgbClr val="FF0055"/>
                </a:solidFill>
                <a:latin typeface="Segoe UI"/>
              </a:defRPr>
            </a:pPr>
            <a:r>
              <a:t>📸 Severe Image Distortion</a:t>
            </a:r>
          </a:p>
          <a:p>
            <a:pPr>
              <a:defRPr sz="1100">
                <a:solidFill>
                  <a:srgbClr val="94A3B8"/>
                </a:solidFill>
                <a:latin typeface="Segoe UI"/>
              </a:defRPr>
            </a:pPr>
            <a:r>
              <a:t>Extremely crumpled, grease-stained, or faint thermal receipts with severe ink fading can occasionally produce partial OCR extraction, requiring manual operator verification in the preview grid.</a:t>
            </a:r>
          </a:p>
          <a:p>
            <a:br/>
            <a:pPr>
              <a:defRPr sz="950" b="1">
                <a:solidFill>
                  <a:srgbClr val="FF0055"/>
                </a:solidFill>
                <a:latin typeface="Consolas"/>
              </a:defRPr>
            </a:pPr>
            <a:r>
              <a:t>[Constraint: Physical Document Quality]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0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2A104E"/>
          </a:solidFill>
          <a:ln w="1270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026FF"/>
                </a:solidFill>
                <a:latin typeface="Consolas"/>
              </a:defRPr>
            </a:pPr>
            <a:r>
              <a:t>// 22 • FUTURE HORIZONS //</a:t>
            </a:r>
          </a:p>
        </p:txBody>
      </p:sp>
      <p:sp>
        <p:nvSpPr>
          <p:cNvPr id="6" name="Right Arrow 5"/>
          <p:cNvSpPr/>
          <p:nvPr/>
        </p:nvSpPr>
        <p:spPr>
          <a:xfrm>
            <a:off x="274320" y="1645920"/>
            <a:ext cx="411480" cy="201168"/>
          </a:xfrm>
          <a:prstGeom prst="rightArrow">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1567160" y="1645920"/>
            <a:ext cx="411480" cy="201168"/>
          </a:xfrm>
          <a:prstGeom prst="rightArrow">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274320" y="5669280"/>
            <a:ext cx="411480" cy="201168"/>
          </a:xfrm>
          <a:prstGeom prst="rightArrow">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11567160" y="5669280"/>
            <a:ext cx="411480" cy="201168"/>
          </a:xfrm>
          <a:prstGeom prst="rightArrow">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5760"/>
            <a:ext cx="3291840" cy="320040"/>
          </a:xfrm>
          <a:prstGeom prst="roundRect">
            <a:avLst/>
          </a:prstGeom>
          <a:solidFill>
            <a:srgbClr val="2A104E"/>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B026FF"/>
                </a:solidFill>
                <a:latin typeface="Consolas"/>
              </a:defRPr>
            </a:pPr>
            <a:r>
              <a:t>●  22 • FUTURE ROADMAP</a:t>
            </a:r>
          </a:p>
        </p:txBody>
      </p:sp>
      <p:sp>
        <p:nvSpPr>
          <p:cNvPr id="11" name="TextBox 10"/>
          <p:cNvSpPr txBox="1"/>
          <p:nvPr/>
        </p:nvSpPr>
        <p:spPr>
          <a:xfrm>
            <a:off x="731520" y="777240"/>
            <a:ext cx="10698480" cy="548640"/>
          </a:xfrm>
          <a:prstGeom prst="rect">
            <a:avLst/>
          </a:prstGeom>
          <a:noFill/>
        </p:spPr>
        <p:txBody>
          <a:bodyPr wrap="square">
            <a:spAutoFit/>
          </a:bodyPr>
          <a:lstStyle/>
          <a:p>
            <a:pPr>
              <a:defRPr sz="2200" b="1">
                <a:solidFill>
                  <a:srgbClr val="F8FAFC"/>
                </a:solidFill>
                <a:latin typeface="Segoe UI"/>
              </a:defRPr>
            </a:pPr>
            <a:r>
              <a:t>Future Enhancements</a:t>
            </a:r>
          </a:p>
          <a:p>
            <a:pPr>
              <a:defRPr sz="1100">
                <a:solidFill>
                  <a:srgbClr val="00F2FE"/>
                </a:solidFill>
                <a:latin typeface="Segoe UI"/>
              </a:defRPr>
            </a:pPr>
            <a:r>
              <a:t>Product Evolution, Native Mobile Packaging &amp; Scalability Roadmap</a:t>
            </a:r>
          </a:p>
        </p:txBody>
      </p:sp>
      <p:sp>
        <p:nvSpPr>
          <p:cNvPr id="12" name="Rectangle 11"/>
          <p:cNvSpPr/>
          <p:nvPr/>
        </p:nvSpPr>
        <p:spPr>
          <a:xfrm>
            <a:off x="731520" y="6309360"/>
            <a:ext cx="10728655" cy="18288"/>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8229600" cy="365760"/>
          </a:xfrm>
          <a:prstGeom prst="rect">
            <a:avLst/>
          </a:prstGeom>
          <a:noFill/>
        </p:spPr>
        <p:txBody>
          <a:bodyPr wrap="none">
            <a:spAutoFit/>
          </a:bodyPr>
          <a:lstStyle/>
          <a:p>
            <a:pPr>
              <a:defRPr sz="850">
                <a:solidFill>
                  <a:srgbClr val="94A3B8"/>
                </a:solidFill>
                <a:latin typeface="Consolas"/>
              </a:defRPr>
            </a:pPr>
            <a:r>
              <a:t>Team VernaLedger • Dept. of AI &amp; DS • AGCE Satara • DBATU University</a:t>
            </a:r>
          </a:p>
        </p:txBody>
      </p:sp>
      <p:sp>
        <p:nvSpPr>
          <p:cNvPr id="14" name="TextBox 13"/>
          <p:cNvSpPr txBox="1"/>
          <p:nvPr/>
        </p:nvSpPr>
        <p:spPr>
          <a:xfrm>
            <a:off x="9601200" y="6355080"/>
            <a:ext cx="1828800" cy="365760"/>
          </a:xfrm>
          <a:prstGeom prst="rect">
            <a:avLst/>
          </a:prstGeom>
          <a:noFill/>
        </p:spPr>
        <p:txBody>
          <a:bodyPr wrap="none">
            <a:spAutoFit/>
          </a:bodyPr>
          <a:lstStyle/>
          <a:p>
            <a:pPr algn="r">
              <a:defRPr sz="900" b="1">
                <a:solidFill>
                  <a:srgbClr val="B026FF"/>
                </a:solidFill>
                <a:latin typeface="Consolas"/>
              </a:defRPr>
            </a:pPr>
            <a:r>
              <a:t>22 / 23</a:t>
            </a:r>
          </a:p>
        </p:txBody>
      </p:sp>
      <p:sp>
        <p:nvSpPr>
          <p:cNvPr id="15" name="Rounded Rectangle 14"/>
          <p:cNvSpPr/>
          <p:nvPr/>
        </p:nvSpPr>
        <p:spPr>
          <a:xfrm>
            <a:off x="731520" y="1737360"/>
            <a:ext cx="2468880" cy="4114800"/>
          </a:xfrm>
          <a:prstGeom prst="roundRect">
            <a:avLst/>
          </a:prstGeom>
          <a:solidFill>
            <a:srgbClr val="2A104E"/>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1737360"/>
            <a:ext cx="2286000"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011680"/>
            <a:ext cx="2103120" cy="3566160"/>
          </a:xfrm>
          <a:prstGeom prst="rect">
            <a:avLst/>
          </a:prstGeom>
          <a:noFill/>
        </p:spPr>
        <p:txBody>
          <a:bodyPr wrap="square">
            <a:spAutoFit/>
          </a:bodyPr>
          <a:lstStyle/>
          <a:p>
            <a:pPr>
              <a:defRPr sz="1300" b="1">
                <a:solidFill>
                  <a:srgbClr val="00F2FE"/>
                </a:solidFill>
                <a:latin typeface="Segoe UI"/>
              </a:defRPr>
            </a:pPr>
            <a:r>
              <a:t>📱 Native Android APK</a:t>
            </a:r>
          </a:p>
          <a:p>
            <a:pPr>
              <a:defRPr sz="1050">
                <a:solidFill>
                  <a:srgbClr val="94A3B8"/>
                </a:solidFill>
                <a:latin typeface="Segoe UI"/>
              </a:defRPr>
            </a:pPr>
            <a:r>
              <a:t>Packaging the suite as a native Android APK with quantized on-device edge AI models for offline OCR.</a:t>
            </a:r>
          </a:p>
          <a:p>
            <a:br/>
            <a:pPr>
              <a:defRPr sz="900" b="1">
                <a:solidFill>
                  <a:srgbClr val="00F2FE"/>
                </a:solidFill>
                <a:latin typeface="Consolas"/>
              </a:defRPr>
            </a:pPr>
            <a:r>
              <a:t>Roadmap Target:</a:t>
            </a:r>
            <a:br/>
            <a:r>
              <a:t>Mobile Native • Edge AI</a:t>
            </a:r>
          </a:p>
        </p:txBody>
      </p:sp>
      <p:sp>
        <p:nvSpPr>
          <p:cNvPr id="18" name="Rounded Rectangle 17"/>
          <p:cNvSpPr/>
          <p:nvPr/>
        </p:nvSpPr>
        <p:spPr>
          <a:xfrm>
            <a:off x="3474720" y="1737360"/>
            <a:ext cx="2468880" cy="4114800"/>
          </a:xfrm>
          <a:prstGeom prst="roundRect">
            <a:avLst/>
          </a:prstGeom>
          <a:solidFill>
            <a:srgbClr val="2A104E"/>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66160" y="1737360"/>
            <a:ext cx="2286000" cy="36576"/>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2011680"/>
            <a:ext cx="2103120" cy="3566160"/>
          </a:xfrm>
          <a:prstGeom prst="rect">
            <a:avLst/>
          </a:prstGeom>
          <a:noFill/>
        </p:spPr>
        <p:txBody>
          <a:bodyPr wrap="square">
            <a:spAutoFit/>
          </a:bodyPr>
          <a:lstStyle/>
          <a:p>
            <a:pPr>
              <a:defRPr sz="1300" b="1">
                <a:solidFill>
                  <a:srgbClr val="00FF87"/>
                </a:solidFill>
                <a:latin typeface="Segoe UI"/>
              </a:defRPr>
            </a:pPr>
            <a:r>
              <a:t>💸 Dynamic UPI QR Codes</a:t>
            </a:r>
          </a:p>
          <a:p>
            <a:pPr>
              <a:defRPr sz="1050">
                <a:solidFill>
                  <a:srgbClr val="94A3B8"/>
                </a:solidFill>
                <a:latin typeface="Segoe UI"/>
              </a:defRPr>
            </a:pPr>
            <a:r>
              <a:t>Generating dynamic transaction-specific UPI QR codes directly on invoices with soundbox payment confirmation.</a:t>
            </a:r>
          </a:p>
          <a:p>
            <a:br/>
            <a:pPr>
              <a:defRPr sz="900" b="1">
                <a:solidFill>
                  <a:srgbClr val="00FF87"/>
                </a:solidFill>
                <a:latin typeface="Consolas"/>
              </a:defRPr>
            </a:pPr>
            <a:r>
              <a:t>Roadmap Target:</a:t>
            </a:r>
            <a:br/>
            <a:r>
              <a:t>Instant Payment Hook</a:t>
            </a:r>
          </a:p>
        </p:txBody>
      </p:sp>
      <p:sp>
        <p:nvSpPr>
          <p:cNvPr id="21" name="Rounded Rectangle 20"/>
          <p:cNvSpPr/>
          <p:nvPr/>
        </p:nvSpPr>
        <p:spPr>
          <a:xfrm>
            <a:off x="6217920" y="1737360"/>
            <a:ext cx="2468880" cy="4114800"/>
          </a:xfrm>
          <a:prstGeom prst="roundRect">
            <a:avLst/>
          </a:prstGeom>
          <a:solidFill>
            <a:srgbClr val="2A104E"/>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1737360"/>
            <a:ext cx="2286000" cy="36576"/>
          </a:xfrm>
          <a:prstGeom prst="rect">
            <a:avLst/>
          </a:prstGeom>
          <a:solidFill>
            <a:srgbClr val="B02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011680"/>
            <a:ext cx="2103120" cy="3566160"/>
          </a:xfrm>
          <a:prstGeom prst="rect">
            <a:avLst/>
          </a:prstGeom>
          <a:noFill/>
        </p:spPr>
        <p:txBody>
          <a:bodyPr wrap="square">
            <a:spAutoFit/>
          </a:bodyPr>
          <a:lstStyle/>
          <a:p>
            <a:pPr>
              <a:defRPr sz="1300" b="1">
                <a:solidFill>
                  <a:srgbClr val="B026FF"/>
                </a:solidFill>
                <a:latin typeface="Segoe UI"/>
              </a:defRPr>
            </a:pPr>
            <a:r>
              <a:t>☁️ Multi-Device Sync</a:t>
            </a:r>
          </a:p>
          <a:p>
            <a:pPr>
              <a:defRPr sz="1050">
                <a:solidFill>
                  <a:srgbClr val="94A3B8"/>
                </a:solidFill>
                <a:latin typeface="Segoe UI"/>
              </a:defRPr>
            </a:pPr>
            <a:r>
              <a:t>Implementing encrypted peer-to-peer cloud replication for multi-counter billing and distributed store management.</a:t>
            </a:r>
          </a:p>
          <a:p>
            <a:br/>
            <a:pPr>
              <a:defRPr sz="900" b="1">
                <a:solidFill>
                  <a:srgbClr val="B026FF"/>
                </a:solidFill>
                <a:latin typeface="Consolas"/>
              </a:defRPr>
            </a:pPr>
            <a:r>
              <a:t>Roadmap Target:</a:t>
            </a:r>
            <a:br/>
            <a:r>
              <a:t>Distributed Ledger Sync</a:t>
            </a:r>
          </a:p>
        </p:txBody>
      </p:sp>
      <p:sp>
        <p:nvSpPr>
          <p:cNvPr id="24" name="Rounded Rectangle 23"/>
          <p:cNvSpPr/>
          <p:nvPr/>
        </p:nvSpPr>
        <p:spPr>
          <a:xfrm>
            <a:off x="8961120" y="1737360"/>
            <a:ext cx="2468880" cy="4114800"/>
          </a:xfrm>
          <a:prstGeom prst="roundRect">
            <a:avLst/>
          </a:prstGeom>
          <a:solidFill>
            <a:srgbClr val="2A104E"/>
          </a:solidFill>
          <a:ln w="15240">
            <a:solidFill>
              <a:srgbClr val="B02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37360"/>
            <a:ext cx="2286000" cy="36576"/>
          </a:xfrm>
          <a:prstGeom prst="rect">
            <a:avLst/>
          </a:prstGeom>
          <a:solidFill>
            <a:srgbClr val="4F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2011680"/>
            <a:ext cx="2103120" cy="3566160"/>
          </a:xfrm>
          <a:prstGeom prst="rect">
            <a:avLst/>
          </a:prstGeom>
          <a:noFill/>
        </p:spPr>
        <p:txBody>
          <a:bodyPr wrap="square">
            <a:spAutoFit/>
          </a:bodyPr>
          <a:lstStyle/>
          <a:p>
            <a:pPr>
              <a:defRPr sz="1300" b="1">
                <a:solidFill>
                  <a:srgbClr val="4FACFE"/>
                </a:solidFill>
                <a:latin typeface="Segoe UI"/>
              </a:defRPr>
            </a:pPr>
            <a:r>
              <a:t>🧾 Automated GST Filing</a:t>
            </a:r>
          </a:p>
          <a:p>
            <a:pPr>
              <a:defRPr sz="1050">
                <a:solidFill>
                  <a:srgbClr val="94A3B8"/>
                </a:solidFill>
                <a:latin typeface="Segoe UI"/>
              </a:defRPr>
            </a:pPr>
            <a:r>
              <a:t>Automating tax categorization and generating one-click ready-to-file GSTR-1 and GSTR-3B tax compliance spreadsheets.</a:t>
            </a:r>
          </a:p>
          <a:p>
            <a:br/>
            <a:pPr>
              <a:defRPr sz="900" b="1">
                <a:solidFill>
                  <a:srgbClr val="4FACFE"/>
                </a:solidFill>
                <a:latin typeface="Consolas"/>
              </a:defRPr>
            </a:pPr>
            <a:r>
              <a:t>Roadmap Target:</a:t>
            </a:r>
            <a:br/>
            <a:r>
              <a:t>Automated Compliance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0" y="365760"/>
            <a:ext cx="3840480" cy="320040"/>
          </a:xfrm>
          <a:prstGeom prst="roundRect">
            <a:avLst/>
          </a:prstGeom>
          <a:solidFill>
            <a:srgbClr val="10284A"/>
          </a:solidFill>
          <a:ln w="127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AA00"/>
                </a:solidFill>
                <a:latin typeface="Consolas"/>
              </a:defRPr>
            </a:pPr>
            <a:r>
              <a:t>// 23 • DEFENSE CONCLUSION //</a:t>
            </a:r>
          </a:p>
        </p:txBody>
      </p:sp>
      <p:sp>
        <p:nvSpPr>
          <p:cNvPr id="6" name="Block Arc 5"/>
          <p:cNvSpPr/>
          <p:nvPr/>
        </p:nvSpPr>
        <p:spPr>
          <a:xfrm>
            <a:off x="3809390" y="914400"/>
            <a:ext cx="4572000" cy="4572000"/>
          </a:xfrm>
          <a:prstGeom prst="blockArc">
            <a:avLst/>
          </a:prstGeom>
          <a:noFill/>
          <a:ln w="381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09390" y="731520"/>
            <a:ext cx="4572000" cy="365760"/>
          </a:xfrm>
          <a:prstGeom prst="roundRect">
            <a:avLst/>
          </a:prstGeom>
          <a:solidFill>
            <a:srgbClr val="0A1937"/>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F87"/>
                </a:solidFill>
                <a:latin typeface="Consolas"/>
              </a:defRPr>
            </a:pPr>
            <a:r>
              <a:t>● FINAL DEFENSE • CONCLUDING REMARKS</a:t>
            </a:r>
          </a:p>
        </p:txBody>
      </p:sp>
      <p:sp>
        <p:nvSpPr>
          <p:cNvPr id="8" name="TextBox 7"/>
          <p:cNvSpPr txBox="1"/>
          <p:nvPr/>
        </p:nvSpPr>
        <p:spPr>
          <a:xfrm>
            <a:off x="914400" y="1280160"/>
            <a:ext cx="10362895" cy="731520"/>
          </a:xfrm>
          <a:prstGeom prst="rect">
            <a:avLst/>
          </a:prstGeom>
          <a:noFill/>
        </p:spPr>
        <p:txBody>
          <a:bodyPr wrap="none">
            <a:spAutoFit/>
          </a:bodyPr>
          <a:lstStyle/>
          <a:p>
            <a:pPr algn="ctr">
              <a:defRPr sz="3600" b="1">
                <a:solidFill>
                  <a:srgbClr val="00F2FE"/>
                </a:solidFill>
                <a:latin typeface="Segoe UI"/>
              </a:defRPr>
            </a:pPr>
            <a:r>
              <a:t>Conclusion &amp; Q&amp;A</a:t>
            </a:r>
          </a:p>
        </p:txBody>
      </p:sp>
      <p:sp>
        <p:nvSpPr>
          <p:cNvPr id="9" name="Rounded Rectangle 8"/>
          <p:cNvSpPr/>
          <p:nvPr/>
        </p:nvSpPr>
        <p:spPr>
          <a:xfrm>
            <a:off x="1645920" y="2194560"/>
            <a:ext cx="8899855" cy="1645920"/>
          </a:xfrm>
          <a:prstGeom prst="roundRect">
            <a:avLst/>
          </a:prstGeom>
          <a:solidFill>
            <a:srgbClr val="10284A"/>
          </a:solidFill>
          <a:ln w="1524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37360" y="2194560"/>
            <a:ext cx="8716975"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2331720"/>
            <a:ext cx="8534095" cy="1371600"/>
          </a:xfrm>
          <a:prstGeom prst="rect">
            <a:avLst/>
          </a:prstGeom>
          <a:noFill/>
        </p:spPr>
        <p:txBody>
          <a:bodyPr wrap="square">
            <a:spAutoFit/>
          </a:bodyPr>
          <a:lstStyle/>
          <a:p>
            <a:pPr>
              <a:defRPr sz="1050" b="1">
                <a:solidFill>
                  <a:srgbClr val="00F2FE"/>
                </a:solidFill>
                <a:latin typeface="Consolas"/>
              </a:defRPr>
            </a:pPr>
            <a:r>
              <a:t>EXECUTIVE SUMMARY:</a:t>
            </a:r>
          </a:p>
          <a:p>
            <a:pPr>
              <a:defRPr sz="1150">
                <a:solidFill>
                  <a:srgbClr val="F8FAFC"/>
                </a:solidFill>
                <a:latin typeface="Segoe UI"/>
              </a:defRPr>
            </a:pPr>
            <a:r>
              <a:t>VernaLedger.AI successfully bridges the deep technological chasm between cutting-edge Artificial Intelligence and India's millions of rural kirana merchants. By marrying multimodal Gemini Flash vision, Marathi voice processing, and a resilient ACID SQLite ledger, we transform complex bookkeeping into a 4.5-second effortless experience.</a:t>
            </a:r>
          </a:p>
        </p:txBody>
      </p:sp>
      <p:sp>
        <p:nvSpPr>
          <p:cNvPr id="12" name="Rounded Rectangle 11"/>
          <p:cNvSpPr/>
          <p:nvPr/>
        </p:nvSpPr>
        <p:spPr>
          <a:xfrm>
            <a:off x="1371600" y="3931920"/>
            <a:ext cx="9448495" cy="2011680"/>
          </a:xfrm>
          <a:prstGeom prst="roundRect">
            <a:avLst/>
          </a:prstGeom>
          <a:solidFill>
            <a:srgbClr val="0A192D"/>
          </a:solidFill>
          <a:ln w="1905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2200" b="1">
                <a:solidFill>
                  <a:srgbClr val="00FF87"/>
                </a:solidFill>
                <a:latin typeface="Segoe UI"/>
              </a:defRPr>
            </a:pPr>
            <a:r>
              <a:t>Thank You! Any Questions?</a:t>
            </a:r>
          </a:p>
          <a:p>
            <a:pPr algn="ctr">
              <a:defRPr sz="1200" b="1">
                <a:solidFill>
                  <a:srgbClr val="F8FAFC"/>
                </a:solidFill>
                <a:latin typeface="Segoe UI"/>
              </a:defRPr>
            </a:pPr>
            <a:r>
              <a:t>Project Team: Sanket Kirdat (Team Leader &amp; AI Developer) • Sakshi Bhagat (Frontend &amp; UI Developer)</a:t>
            </a:r>
            <a:br/>
            <a:r>
              <a:t>Vaishnavi Dhavale (Voice Billing &amp; AI Developer) • Rushikesh Mulik (Backend &amp; Database Developer)</a:t>
            </a:r>
          </a:p>
          <a:p>
            <a:pPr algn="ctr">
              <a:defRPr sz="950">
                <a:solidFill>
                  <a:srgbClr val="00F2FE"/>
                </a:solidFill>
                <a:latin typeface="Consolas"/>
              </a:defRPr>
            </a:pPr>
            <a:r>
              <a:t>Department of Artificial Intelligence &amp; Data Science (AI &amp; DS) • Arvind Gavali College of Engineering, Satara • DBATU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