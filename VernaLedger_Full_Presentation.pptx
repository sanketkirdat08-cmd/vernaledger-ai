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6200" b="1">
                <a:solidFill>
                  <a:srgbClr val="00F2FE"/>
                </a:solidFill>
              </a:defRPr>
            </a:pPr>
            <a:r>
              <a:t>VernaLedger.AI: Merchant Pro v7.5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000">
                <a:solidFill>
                  <a:srgbClr val="00FF87"/>
                </a:solidFill>
              </a:defRPr>
            </a:pPr>
            <a:r>
              <a:t>The Ultimate AI-Powered Ledger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3600" b="1">
                <a:solidFill>
                  <a:srgbClr val="00F2FE"/>
                </a:solidFill>
              </a:defRPr>
            </a:pPr>
            <a:r>
              <a:t>Result: Secure Login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4572000" cy="4114800"/>
          </a:xfrm>
          <a:prstGeom prst="roundRect">
            <a:avLst/>
          </a:prstGeom>
          <a:solidFill>
            <a:srgbClr val="10192B"/>
          </a:solidFill>
          <a:ln>
            <a:solidFill>
              <a:srgbClr val="00F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</a:p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00FF87"/>
                </a:solidFill>
              </a:rPr>
              <a:t>Access Management</a:t>
            </a:r>
          </a:p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Authentication Security: </a:t>
            </a:r>
            <a:r>
              <a:rPr sz="2000" b="0">
                <a:solidFill>
                  <a:srgbClr val="F1F5F9"/>
                </a:solidFill>
              </a:rPr>
              <a:t>PBKDF2 with SHA-256.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Role-Based Access (RBAC): </a:t>
            </a:r>
            <a:r>
              <a:rPr sz="2000" b="0">
                <a:solidFill>
                  <a:srgbClr val="F1F5F9"/>
                </a:solidFill>
              </a:rPr>
              <a:t>Admin vs. Staff.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Persistent Sessions: </a:t>
            </a:r>
            <a:r>
              <a:rPr sz="2000" b="0">
                <a:solidFill>
                  <a:srgbClr val="F1F5F9"/>
                </a:solidFill>
              </a:rPr>
              <a:t>Auto-login functionality.</a:t>
            </a:r>
          </a:p>
        </p:txBody>
      </p:sp>
      <p:pic>
        <p:nvPicPr>
          <p:cNvPr id="4" name="Picture 3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6400800" cy="3600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03520" y="1828800"/>
            <a:ext cx="6400800" cy="3593592"/>
          </a:xfrm>
          <a:prstGeom prst="roundRect">
            <a:avLst/>
          </a:prstGeom>
          <a:noFill/>
          <a:ln w="317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3600" b="1">
                <a:solidFill>
                  <a:srgbClr val="00F2FE"/>
                </a:solidFill>
              </a:defRPr>
            </a:pPr>
            <a:r>
              <a:t>Result: OCR &amp; Voice Billing Module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4572000" cy="4114800"/>
          </a:xfrm>
          <a:prstGeom prst="roundRect">
            <a:avLst/>
          </a:prstGeom>
          <a:solidFill>
            <a:srgbClr val="10192B"/>
          </a:solidFill>
          <a:ln>
            <a:solidFill>
              <a:srgbClr val="00F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</a:p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00FF87"/>
                </a:solidFill>
              </a:rPr>
              <a:t>Core Engine Showcase</a:t>
            </a:r>
          </a:p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Multimodal Bill Capture: </a:t>
            </a:r>
            <a:r>
              <a:rPr sz="2000" b="0">
                <a:solidFill>
                  <a:srgbClr val="F1F5F9"/>
                </a:solidFill>
              </a:rPr>
              <a:t>File Upload, Camera, Voice.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Duplicate Prevention: </a:t>
            </a:r>
            <a:r>
              <a:rPr sz="2000" b="0">
                <a:solidFill>
                  <a:srgbClr val="F1F5F9"/>
                </a:solidFill>
              </a:rPr>
              <a:t>Automatic warnings.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Audio Confirmation: </a:t>
            </a:r>
            <a:r>
              <a:rPr sz="2000" b="0">
                <a:solidFill>
                  <a:srgbClr val="F1F5F9"/>
                </a:solidFill>
              </a:rPr>
              <a:t>Edge TTS in Marathi.</a:t>
            </a:r>
          </a:p>
        </p:txBody>
      </p:sp>
      <p:pic>
        <p:nvPicPr>
          <p:cNvPr id="4" name="Picture 3" descr="o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6400800" cy="3600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03520" y="1828800"/>
            <a:ext cx="6400800" cy="3593592"/>
          </a:xfrm>
          <a:prstGeom prst="roundRect">
            <a:avLst/>
          </a:prstGeom>
          <a:noFill/>
          <a:ln w="317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3600" b="1">
                <a:solidFill>
                  <a:srgbClr val="00F2FE"/>
                </a:solidFill>
              </a:defRPr>
            </a:pPr>
            <a:r>
              <a:t>Result: Merchant Analytics Hub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4572000" cy="4114800"/>
          </a:xfrm>
          <a:prstGeom prst="roundRect">
            <a:avLst/>
          </a:prstGeom>
          <a:solidFill>
            <a:srgbClr val="10192B"/>
          </a:solidFill>
          <a:ln>
            <a:solidFill>
              <a:srgbClr val="00F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</a:p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00FF87"/>
                </a:solidFill>
              </a:rPr>
              <a:t>Data Intelligence</a:t>
            </a:r>
          </a:p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Sales Monitoring: </a:t>
            </a:r>
            <a:r>
              <a:rPr sz="2000" b="0">
                <a:solidFill>
                  <a:srgbClr val="F1F5F9"/>
                </a:solidFill>
              </a:rPr>
              <a:t>Live KPI cards.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Visualizations: </a:t>
            </a:r>
            <a:r>
              <a:rPr sz="2000" b="0">
                <a:solidFill>
                  <a:srgbClr val="F1F5F9"/>
                </a:solidFill>
              </a:rPr>
              <a:t>Interactive pies and bar graphs.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Timeframe Filtering: </a:t>
            </a:r>
            <a:r>
              <a:rPr sz="2000" b="0">
                <a:solidFill>
                  <a:srgbClr val="F1F5F9"/>
                </a:solidFill>
              </a:rPr>
              <a:t>Daily, Weekly, Monthly.</a:t>
            </a:r>
          </a:p>
        </p:txBody>
      </p:sp>
      <p:pic>
        <p:nvPicPr>
          <p:cNvPr id="4" name="Picture 3" descr="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6400800" cy="3600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03520" y="1828800"/>
            <a:ext cx="6400800" cy="3593592"/>
          </a:xfrm>
          <a:prstGeom prst="roundRect">
            <a:avLst/>
          </a:prstGeom>
          <a:noFill/>
          <a:ln w="317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3600" b="1">
                <a:solidFill>
                  <a:srgbClr val="00F2FE"/>
                </a:solidFill>
              </a:defRPr>
            </a:pPr>
            <a:r>
              <a:t>Result: Customer Khata (Udhari)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4572000" cy="4114800"/>
          </a:xfrm>
          <a:prstGeom prst="roundRect">
            <a:avLst/>
          </a:prstGeom>
          <a:solidFill>
            <a:srgbClr val="10192B"/>
          </a:solidFill>
          <a:ln>
            <a:solidFill>
              <a:srgbClr val="00F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</a:p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00FF87"/>
                </a:solidFill>
              </a:rPr>
              <a:t>Credit Management Dashboard</a:t>
            </a:r>
          </a:p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Digital Ledger: </a:t>
            </a:r>
            <a:r>
              <a:rPr sz="2000" b="0">
                <a:solidFill>
                  <a:srgbClr val="F1F5F9"/>
                </a:solidFill>
              </a:rPr>
              <a:t>Toggle Given &amp; Received.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Due Date Tracking: </a:t>
            </a:r>
            <a:r>
              <a:rPr sz="2000" b="0">
                <a:solidFill>
                  <a:srgbClr val="F1F5F9"/>
                </a:solidFill>
              </a:rPr>
              <a:t>Automated high-risk alerts.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One-Click Follow Up: </a:t>
            </a:r>
            <a:r>
              <a:rPr sz="2000" b="0">
                <a:solidFill>
                  <a:srgbClr val="F1F5F9"/>
                </a:solidFill>
              </a:rPr>
              <a:t>WhatsApp links.</a:t>
            </a:r>
          </a:p>
        </p:txBody>
      </p:sp>
      <p:pic>
        <p:nvPicPr>
          <p:cNvPr id="4" name="Picture 3" descr="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6400800" cy="3600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03520" y="1828800"/>
            <a:ext cx="6400800" cy="3593592"/>
          </a:xfrm>
          <a:prstGeom prst="roundRect">
            <a:avLst/>
          </a:prstGeom>
          <a:noFill/>
          <a:ln w="317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3600" b="1">
                <a:solidFill>
                  <a:srgbClr val="00F2FE"/>
                </a:solidFill>
              </a:defRPr>
            </a:pPr>
            <a:r>
              <a:t>Result: Ledger Database Editor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4572000" cy="4114800"/>
          </a:xfrm>
          <a:prstGeom prst="roundRect">
            <a:avLst/>
          </a:prstGeom>
          <a:solidFill>
            <a:srgbClr val="10192B"/>
          </a:solidFill>
          <a:ln>
            <a:solidFill>
              <a:srgbClr val="00F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</a:p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00FF87"/>
                </a:solidFill>
              </a:rPr>
              <a:t>Live Data Management</a:t>
            </a:r>
          </a:p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ACID Storage &amp; Live Editing: </a:t>
            </a:r>
            <a:r>
              <a:rPr sz="2000" b="0">
                <a:solidFill>
                  <a:srgbClr val="F1F5F9"/>
                </a:solidFill>
              </a:rPr>
              <a:t>Interactive grid.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Record Management: </a:t>
            </a:r>
            <a:r>
              <a:rPr sz="2000" b="0">
                <a:solidFill>
                  <a:srgbClr val="F1F5F9"/>
                </a:solidFill>
              </a:rPr>
              <a:t>Secure deletions.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Multi-Language Export: </a:t>
            </a:r>
            <a:r>
              <a:rPr sz="2000" b="0">
                <a:solidFill>
                  <a:srgbClr val="F1F5F9"/>
                </a:solidFill>
              </a:rPr>
              <a:t>CSV or Marathi PDF.</a:t>
            </a:r>
          </a:p>
        </p:txBody>
      </p:sp>
      <p:pic>
        <p:nvPicPr>
          <p:cNvPr id="4" name="Picture 3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6400800" cy="3600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03520" y="1828800"/>
            <a:ext cx="6400800" cy="3593592"/>
          </a:xfrm>
          <a:prstGeom prst="roundRect">
            <a:avLst/>
          </a:prstGeom>
          <a:noFill/>
          <a:ln w="317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3600" b="1">
                <a:solidFill>
                  <a:srgbClr val="00F2FE"/>
                </a:solidFill>
              </a:defRPr>
            </a:pPr>
            <a:r>
              <a:t>Result: Neural AI Studio (RAG)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4572000" cy="4114800"/>
          </a:xfrm>
          <a:prstGeom prst="roundRect">
            <a:avLst/>
          </a:prstGeom>
          <a:solidFill>
            <a:srgbClr val="10192B"/>
          </a:solidFill>
          <a:ln>
            <a:solidFill>
              <a:srgbClr val="00F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</a:p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00FF87"/>
                </a:solidFill>
              </a:rPr>
              <a:t>Conversational Intelligence</a:t>
            </a:r>
          </a:p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Context-Aware Chatbot: </a:t>
            </a:r>
            <a:r>
              <a:rPr sz="2000" b="0">
                <a:solidFill>
                  <a:srgbClr val="F1F5F9"/>
                </a:solidFill>
              </a:rPr>
              <a:t>Chat with context.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Voice Input: </a:t>
            </a:r>
            <a:r>
              <a:rPr sz="2000" b="0">
                <a:solidFill>
                  <a:srgbClr val="F1F5F9"/>
                </a:solidFill>
              </a:rPr>
              <a:t>Ask in Marathi or Hindi.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Quick Action Chips: </a:t>
            </a:r>
            <a:r>
              <a:rPr sz="2000" b="0">
                <a:solidFill>
                  <a:srgbClr val="F1F5F9"/>
                </a:solidFill>
              </a:rPr>
              <a:t>One-tap prompts.</a:t>
            </a:r>
          </a:p>
        </p:txBody>
      </p:sp>
      <p:pic>
        <p:nvPicPr>
          <p:cNvPr id="4" name="Picture 3" descr="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6400800" cy="3600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03520" y="1828800"/>
            <a:ext cx="6400800" cy="3593592"/>
          </a:xfrm>
          <a:prstGeom prst="roundRect">
            <a:avLst/>
          </a:prstGeom>
          <a:noFill/>
          <a:ln w="317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3600" b="1">
                <a:solidFill>
                  <a:srgbClr val="00F2FE"/>
                </a:solidFill>
              </a:defRPr>
            </a:pPr>
            <a:r>
              <a:t>Result: Staff Management &amp; Audit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4572000" cy="4114800"/>
          </a:xfrm>
          <a:prstGeom prst="roundRect">
            <a:avLst/>
          </a:prstGeom>
          <a:solidFill>
            <a:srgbClr val="10192B"/>
          </a:solidFill>
          <a:ln>
            <a:solidFill>
              <a:srgbClr val="00F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</a:p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00FF87"/>
                </a:solidFill>
              </a:rPr>
              <a:t>System Accountability</a:t>
            </a:r>
          </a:p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Role Access Setup: </a:t>
            </a:r>
            <a:r>
              <a:rPr sz="2000" b="0">
                <a:solidFill>
                  <a:srgbClr val="F1F5F9"/>
                </a:solidFill>
              </a:rPr>
              <a:t>Wizard for Admin or Staff.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System Audit Logs: </a:t>
            </a:r>
            <a:r>
              <a:rPr sz="2000" b="0">
                <a:solidFill>
                  <a:srgbClr val="F1F5F9"/>
                </a:solidFill>
              </a:rPr>
              <a:t>Tracks 'Who did what'.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rPr sz="2000" b="1">
                <a:solidFill>
                  <a:srgbClr val="00F2FE"/>
                </a:solidFill>
              </a:rPr>
              <a:t>• Zero-Trust Security: </a:t>
            </a:r>
            <a:r>
              <a:rPr sz="2000" b="0">
                <a:solidFill>
                  <a:srgbClr val="F1F5F9"/>
                </a:solidFill>
              </a:rPr>
              <a:t>Protects core system.</a:t>
            </a:r>
          </a:p>
        </p:txBody>
      </p:sp>
      <p:pic>
        <p:nvPicPr>
          <p:cNvPr id="4" name="Picture 3" descr="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6400800" cy="3600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03520" y="1828800"/>
            <a:ext cx="6400800" cy="3593592"/>
          </a:xfrm>
          <a:prstGeom prst="roundRect">
            <a:avLst/>
          </a:prstGeom>
          <a:noFill/>
          <a:ln w="317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800" b="1">
                <a:solidFill>
                  <a:srgbClr val="00F2FE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